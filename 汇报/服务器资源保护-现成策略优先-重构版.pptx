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  <Relationship Id="rId2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汇报先回答现成资源保护策略能否满足我们的需求。我们按内存、CPU、磁盘和跨资源管理来比较，优先通过配置和试点解决问题。只有出现明确的业务缺口，才展开后面的观测、定位与处置设计。因此，后半部分是备选补充方案，不表示已经决定开发。当前是技术调研，没有部署或故障实测结论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任务来自服务器资源占用过高、影响生产的风险，希望自动发现并处理危机，尽量避免宕机。必要时可能需要重启服务或终止进程，但是否允许以及具体对象必须由公司提供。我们目前不能假定每次高占用都是同一种故障，也不能根据参考机器推断所有服务器配置一致。要先核对事件记录、业务优先级和允许动作，再判断现成策略能否达到保护目标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成方案不仅有接口，还包含配置后自动运行的策略。内存应急工具能够自行检测压力、选择对象和终止；CPU、IO和任务数量限制由内核持续执行；日志治理根据大小和保留条件轮转清理；Monit对已知服务执行配置的恢复；Kubernetes和Slurm在统一管理的工作负载范围内提供驱逐或调度。这些工具可以组合，不是只能选一种。</a:t>
            </a:r>
          </a:p>
          <a:p>
            <a:pPr/>
            <a:endParaRPr lang="zh-CN" dirty="0"/>
          </a:p>
          <a:p>
            <a:pPr/>
            <a:r>
              <a:rPr lang="zh-CN" dirty="0"/>
              <a:t>比较时统一回答管理什么对象、何时触发、如何选择、采取什么动作，以及需要配置什么和覆盖不到什么。“完整方案”只针对它声明的保护范围，不能等同于所有故障都能自动处理并保证关键业务恢复。详细官方来源随下列各资源页面列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systemd-oomd是一套本机内存应急处置机制，能够自己采集压力、选择符合条件的对象并终止，不需要先接入Prometheus，也不需要我们重写相同循环。这里按Ubuntu Jammy的systemd二百四十九系列手册核验。</a:t>
            </a:r>
          </a:p>
          <a:p>
            <a:pPr/>
            <a:endParaRPr lang="zh-CN" dirty="0"/>
          </a:p>
          <a:p>
            <a:pPr/>
            <a:r>
              <a:rPr lang="zh-CN" dirty="0"/>
              <a:t>它有内存压力和swap相关触发路径。压力超过阈值并持续配置时长后进入处置。PSI表示任务因资源不足而等待的时间比例，并非内存已用百分比，不能把两种阈值混用。</a:t>
            </a:r>
          </a:p>
          <a:p>
            <a:pPr/>
            <a:endParaRPr lang="zh-CN" dirty="0"/>
          </a:p>
          <a:p>
            <a:pPr/>
            <a:r>
              <a:rPr lang="zh-CN" dirty="0"/>
              <a:t>候选位于被监控单元的后代cgroup中，需符合叶节点或组级OOM等条件。压力路径参考回收活动量，swap路径参考满足条件对象的swap用量，不是简单选择内存占用最大的容器。avoid和omit可以降低选择优先级或排除对象，但有属主、扩展属性和非递归作用等限制，必须按层级核验。</a:t>
            </a:r>
          </a:p>
          <a:p>
            <a:pPr/>
            <a:endParaRPr lang="zh-CN" dirty="0"/>
          </a:p>
          <a:p>
            <a:pPr/>
            <a:r>
              <a:rPr lang="zh-CN" dirty="0"/>
              <a:t>动作是向选中组的进程发送SIGKILL，以缓解内存危机，不是Docker stop式优雅退出，也不会等待保存任务进度。它持续观察资源条件，但不替我们验证公司业务恢复。适用前提是业务允许牺牲一部分负载。还需验证Docker的cgroup驱动与层级、关键业务保护、swap、自动重启以及和其他执行器的协调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来源：https://manpages.ubuntu.com/manpages/jammy/man8/systemd-oomd.service.8.html</a:t>
            </a:r>
          </a:p>
          <a:p>
            <a:pPr/>
            <a:r>
              <a:rPr lang="en-US" dirty="0"/>
              <a:t>https://manpages.ubuntu.com/manpages/jammy/man5/oomd.conf.5.html</a:t>
            </a:r>
          </a:p>
          <a:p>
            <a:pPr/>
            <a:r>
              <a:rPr lang="en-US" dirty="0"/>
              <a:t>https://manpages.ubuntu.com/manpages/jammy/man5/systemd.resource-control.5.html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三种方案都面向内存危机，但管理粒度和策略表达不同。systemd-oomd使用PSI或swap条件，在cgroup层级选择并强制终止，当前参考环境已有systemd和cgroup第二版，因此值得先评估适配性，但不等于已启用或适合生产。</a:t>
            </a:r>
          </a:p>
          <a:p>
            <a:pPr/>
            <a:endParaRPr lang="zh-CN" dirty="0"/>
          </a:p>
          <a:p>
            <a:pPr/>
            <a:r>
              <a:rPr lang="zh-CN" dirty="0"/>
              <a:t>earlyoom检查可用内存和swap，默认参考oom_score选择进程，还可设置偏好并发送终止信号。它管理进程，进程到容器和业务的映射需要另核；避免偏好不等于绝对保护。Meta oomd是另一个独立项目，使用PSI和cgroup第二版，通过规则和插件表达策略。可先评估已有插件，需要时再扩展，不能预先认定必须开发。</a:t>
            </a:r>
          </a:p>
          <a:p>
            <a:pPr/>
            <a:endParaRPr lang="zh-CN" dirty="0"/>
          </a:p>
          <a:p>
            <a:pPr/>
            <a:r>
              <a:rPr lang="zh-CN" dirty="0"/>
              <a:t>三者都需要确认终止范围与业务后果。如果systemd-oomd的组级策略足够，就优先配置试点；不够再比较其他策略。不要让多个独立终止策略无协调地同时作用于同一业务。本次没有比较性能、开销或运维成本的实测结果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来源：https://manpages.ubuntu.com/manpages/jammy/man8/systemd-oomd.service.8.html</a:t>
            </a:r>
          </a:p>
          <a:p>
            <a:pPr/>
            <a:r>
              <a:rPr lang="en-US" dirty="0"/>
              <a:t>https://github.com/rfjakob/earlyoom</a:t>
            </a:r>
          </a:p>
          <a:p>
            <a:pPr/>
            <a:r>
              <a:rPr lang="en-US" dirty="0"/>
              <a:t>https://facebookincubator.github.io/oomd/docs/overview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PU争抢通常先通过资源份额治理。Docker的CPU限额和权重，或systemd的CPUQuota与CPUWeight，会由底层内核控制器持续执行。管理员声明资源预算后，不需要自己写一个程序不断检测并重复设置同一限额。限额约束CPU时间，权重影响竞争时的相对分配；CPU利用率高可能只是正常计算工作，不能直接视为故障。</a:t>
            </a:r>
          </a:p>
          <a:p>
            <a:pPr/>
            <a:endParaRPr lang="zh-CN" dirty="0"/>
          </a:p>
          <a:p>
            <a:pPr/>
            <a:r>
              <a:rPr lang="zh-CN" dirty="0"/>
              <a:t>磁盘IO限制控制指定组在指定设备上的带宽或IOPS。它解决读写竞争，不清理文件，也不增加磁盘可用容量，设备与文件系统上是否生效需实测。Docker的pids-limit和systemd的TasksMax限制任务数量，达到上限时阻止继续创建，线程也影响计数，不能理解为会自动杀掉已有任务。</a:t>
            </a:r>
          </a:p>
          <a:p>
            <a:pPr/>
            <a:endParaRPr lang="zh-CN" dirty="0"/>
          </a:p>
          <a:p>
            <a:pPr/>
            <a:r>
              <a:rPr lang="zh-CN" dirty="0"/>
              <a:t>这些方案需要配置对象、预算和优先级，并验证业务性能、控制器支持和作用范围。Docker管理的容器优先走Docker的配置，systemd或上级分组的限制需要尊重cgroup管理归属，避免多个管理者无协调修改。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来源：https://docs.docker.com/engine/containers/resource_constraints/</a:t>
            </a:r>
          </a:p>
          <a:p>
            <a:pPr/>
            <a:r>
              <a:rPr lang="en-US" dirty="0"/>
              <a:t>https://manpages.ubuntu.com/manpages/jammy/man5/systemd.resource-control.5.html</a:t>
            </a:r>
          </a:p>
          <a:p>
            <a:pPr/>
            <a:r>
              <a:rPr lang="en-US" dirty="0"/>
              <a:t>https://docs.kernel.org/admin-guide/cgroup-v2.html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磁盘空间要按数据归属治理。Docker local日志驱动可以按大小轮转并按数量保留，修改daemon默认日志配置不会自动改变现有容器，要评估应用到已有任务的步骤。容器写入卷里的文件也不一定属于该日志驱动的管理范围。</a:t>
            </a:r>
          </a:p>
          <a:p>
            <a:pPr/>
            <a:endParaRPr lang="zh-CN" dirty="0"/>
          </a:p>
          <a:p>
            <a:pPr/>
            <a:r>
              <a:rPr lang="zh-CN" dirty="0"/>
              <a:t>journald管理自己的journal文件，按照空间和保留规则回收归档。它不清理其他应用数据，也不能保证其他业务填满磁盘后主动回收出任意目标空间。logrotate针对明确配置的日志路径，通过定时运行检查周期或大小条件后轮转，检查频率影响实际时效；应用如何重新打开文件也需要配置，copytruncate存在少量日志丢失窗口。</a:t>
            </a:r>
          </a:p>
          <a:p>
            <a:pPr/>
            <a:endParaRPr lang="zh-CN" dirty="0"/>
          </a:p>
          <a:p>
            <a:pPr/>
            <a:r>
              <a:rPr lang="zh-CN" dirty="0"/>
              <a:t>数据集、模型文件、数据库和持久化卷仍需公司明确保留和删除规则。停止容器并不一定释放这些空间。Docker私有日志应通过其日志机制管理，不建议让外部轮转工具直接接管。这里的自动治理已有成熟机制，但不能授权自动删除未知业务数据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来源：https://docs.docker.com/engine/logging/drivers/local/</a:t>
            </a:r>
          </a:p>
          <a:p>
            <a:pPr/>
            <a:r>
              <a:rPr lang="en-US" dirty="0"/>
              <a:t>https://manpages.ubuntu.com/manpages/jammy/man5/journald.conf.5.html</a:t>
            </a:r>
          </a:p>
          <a:p>
            <a:pPr/>
            <a:r>
              <a:rPr lang="en-US" dirty="0"/>
              <a:t>https://manpages.ubuntu.com/manpages/jammy/man8/logrotate.8.html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跨资源方案应按工作负载选择。Monit适合明确的固定服务，周期检查资源或健康状态，在满足配置条件后执行预先定义的停止和重启。已有规则执行机制，但动态Docker容器的发现、业务映射和操作仍需适配。</a:t>
            </a:r>
          </a:p>
          <a:p>
            <a:pPr/>
            <a:endParaRPr lang="zh-CN" dirty="0"/>
          </a:p>
          <a:p>
            <a:pPr/>
            <a:r>
              <a:rPr lang="zh-CN" dirty="0"/>
              <a:t>Kubernetes的kubelet有节点压力驱逐机制，会根据内存、磁盘、inode或PID等信号，先尝试适用的节点资源回收，再按策略驱逐Pod。由控制器管理的工作负载可按声明补建，不代表一定在原节点立即恢复。CPU高占用不是同类节点压力驱逐信号。采用它需要把工作负载纳入Kubernetes，不是安装后接管现有独立Docker。</a:t>
            </a:r>
          </a:p>
          <a:p>
            <a:pPr/>
            <a:endParaRPr lang="zh-CN" dirty="0"/>
          </a:p>
          <a:p>
            <a:pPr/>
            <a:r>
              <a:rPr lang="zh-CN" dirty="0"/>
              <a:t>Slurm面向作业资源申请、排队、分配和约束，可管理CPU、内存、GPU，并配置优先级和抢占。需要通过调度器提交任务、正确配置资源约束。暂停不会释放作业仍占用的内存和GPU分配，因此不能把暂停作为内存危机的通用解决办法。</a:t>
            </a:r>
          </a:p>
          <a:p>
            <a:pPr/>
            <a:endParaRPr lang="zh-CN" dirty="0"/>
          </a:p>
          <a:p>
            <a:pPr/>
            <a:r>
              <a:rPr lang="zh-CN" dirty="0"/>
              <a:t>当前先核验本机策略，有统一容器编排或多用户作业调度需求时再比较迁移和管理成本，不能仅为少量阈值检查直接推荐大平台。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来源：https://mmonit.com/monit/documentation/monit.html</a:t>
            </a:r>
          </a:p>
          <a:p>
            <a:pPr/>
            <a:r>
              <a:rPr lang="en-US" dirty="0"/>
              <a:t>https://kubernetes.io/docs/concepts/scheduling-eviction/node-pressure-eviction/</a:t>
            </a:r>
          </a:p>
          <a:p>
            <a:pPr/>
            <a:r>
              <a:rPr lang="en-US" dirty="0"/>
              <a:t>https://slurm.schedmd.com/cgroup.conf.html</a:t>
            </a:r>
          </a:p>
          <a:p>
            <a:pPr/>
            <a:r>
              <a:rPr lang="en-US" dirty="0"/>
              <a:t>https://slurm.schedmd.com/preempt.html</a:t>
            </a:r>
          </a:p>
          <a:p>
            <a:pPr/>
            <a:r>
              <a:rPr lang="en-US" dirty="0"/>
              <a:t>https://slurm.schedmd.com/gres.html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到这里可以先讨论是否需要进入补充设计。判断依据是管理对象是否匹配、触发和选择规则是否合理、动作是否被业务接受，以及效果是否有明确验证标准。满足这些要求就配置现成策略并做试点，汇报可以直接跳到第二十一页讨论试点和验收，无需继续逐项讲解自研。</a:t>
            </a:r>
          </a:p>
          <a:p>
            <a:pPr/>
            <a:endParaRPr lang="zh-CN" dirty="0"/>
          </a:p>
          <a:p>
            <a:pPr/>
            <a:r>
              <a:rPr lang="zh-CN" dirty="0"/>
              <a:t>如果有具体缺口，再进入第十到第二十页按需展开。例如任务必须先保存进度再终止，存在特殊业务优先级，需要跨资源组合判断，或需要特定业务恢复验证。这些只是可能的需求，不代表已经存在，也不代表现成方案一定无法配置覆盖。先核实再决定开发范围和工作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只有确认现成策略存在覆盖缺口，才需要展开这一部分。观测把来源数据整理成结构化指标，包含对象身份、用量、变化、压力、时间和有效性。定位结合这些字段及公司维护的业务权限与规则，生成候选、依据和建议动作，可以补查缺少的证据，也可以返回无候选。处置在执行前复核当前状态，调用获准的动作接口，再输出执行状态、资源结果和业务检查结果。</a:t>
            </a:r>
          </a:p>
          <a:p>
            <a:pPr/>
            <a:endParaRPr lang="zh-CN" dirty="0"/>
          </a:p>
          <a:p>
            <a:pPr/>
            <a:r>
              <a:rPr lang="zh-CN" dirty="0"/>
              <a:t>这三段不是三个必须独立部署的软件，也不是用自然语言互相聊天。B增长多是指标证据，B符合本次处理规则是候选决策。已有systemd-oomd等工具已覆盖的循环不需要重复实现。若现成执行器与补充程序同时存在，要明确对象范围、优先级与防重复控制，避免相互冲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本页仅在现成策略仍有明确覆盖缺口时展开。已被现成策略覆盖的功能可直接复用，不要求全部重新开发。</a:t>
            </a:r>
          </a:p>
          <a:p>
            <a:pPr/>
            <a:endParaRPr lang="zh-CN" dirty="0"/>
          </a:p>
          <a:p>
            <a:pPr/>
            <a:r>
              <a:rPr lang="zh-CN" dirty="0"/>
              <a:t>这一页让各工具回答同样四个问题：谁占得多，谁近期增长，资源是否真的紧张，以及业务有没有受到影响。当前用量帮助找对象，历史变化帮助缩小范围，等待和限流信息帮助判断压力，业务耗时和错误则帮助判断影响以及后续是否恢复。它们是四种需要的信息，不是工具从低到高的等级。</a:t>
            </a:r>
          </a:p>
          <a:p>
            <a:pPr/>
            <a:endParaRPr lang="zh-CN" dirty="0"/>
          </a:p>
          <a:p>
            <a:pPr/>
            <a:r>
              <a:rPr lang="zh-CN" dirty="0"/>
              <a:t>先增加一个基线：保护程序直接从本机Linux和Docker读取信息。这本身也是可行的选择。当前容器用量可通过Docker统计接口读取，程序要处理单位和内存口径，例如Docker命令行与API对缓存的处理不同。近期增长需要连续采样、保存一段历史并自己计算，单次读数不能回答。资源压力也不是平台独有的信息，Linux的主机和cgroup压力文件可以提供PSI，cgroup的CPU统计可提供限流信息；但程序要核对内核与控制器支持、权限、文件路径以及容器对应关系，并解析数据。内核自带的累计计数和短窗口统计不等于完整的容器用量历史库。业务影响仍需要自己检查接口或读取应用暴露的指标，操作系统不能凭空知道业务错误率。</a:t>
            </a:r>
          </a:p>
          <a:p>
            <a:pPr/>
            <a:endParaRPr lang="zh-CN" dirty="0"/>
          </a:p>
          <a:p>
            <a:pPr/>
            <a:r>
              <a:rPr lang="zh-CN" dirty="0"/>
              <a:t>因此，直接读取并不代表只能拿到粗略信息；平台主要帮助复用已有采集、历史保存和查询计算。只需要少量本机指标时，直接读取可能更合适；需要很多细项或已有历史时，再衡量采集器或平台能节省多少开发工作，以及引入的组件开销。紧急保护的取数位置和操作前复核仍应结合本机可靠性设计。</a:t>
            </a:r>
          </a:p>
          <a:p>
            <a:pPr/>
            <a:endParaRPr lang="zh-CN" dirty="0"/>
          </a:p>
          <a:p>
            <a:pPr/>
            <a:r>
              <a:rPr lang="zh-CN" dirty="0"/>
              <a:t>先看当前用量，这几种组合都能提供容器内存等信息，因此这一列本身分不出胜负。Beszel提供基础容器用量和已保存的历史，如果公司已有它，且这些信息足够，可以先复用。需要自动筛出近期增长的容器时，本方案要补上读取历史和增长判断；这不代表已证明Beszel不存在任何其他扩展。官方基础指标说明没有确认PSI和CPU限流字段齐全，需核对实际版本或另外采集。业务耗时和错误率也不能从资源用量推出来，需要另外接入。</a:t>
            </a:r>
          </a:p>
          <a:p>
            <a:pPr/>
            <a:endParaRPr lang="zh-CN" dirty="0"/>
          </a:p>
          <a:p>
            <a:pPr/>
            <a:r>
              <a:rPr lang="zh-CN" dirty="0"/>
              <a:t>Prometheus需要配套采集器。这里具体指node_exporter提供主机PSI，也就是资源等待统计，cAdvisor提供容器用量和CPU限流等指标。主机等待不能直接归因到某一个容器。程序可以提交查询表达式，计算内存变化并对候选排序，例如使用适合内存这类可升降数值的变化或斜率计算；不能把累计计数器的速率公式不加区分地套用。返回计算结果是它的一项明确能力，但表达式仍需编写，样本时间和容器标签仍要校验。业务信息需要应用暴露指标，再配置采集，并不会自动出现。</a:t>
            </a:r>
          </a:p>
          <a:p>
            <a:pPr/>
            <a:endParaRPr lang="zh-CN" dirty="0"/>
          </a:p>
          <a:p>
            <a:pPr/>
            <a:r>
              <a:rPr lang="zh-CN" dirty="0"/>
              <a:t>Zabbix的Agent二和Docker模板也能提供容器用量，模板列有CPU限流信息，但不能据此推定所有压力指标都有。PSI需要另行核对或补采。Zabbix不仅能存历史，还支持配置计算项，根据已有监控项计算变化，因此不能把能计算当成Prometheus独有的能力。区别是这里配置一个按更新周期运行的计算项，而Prometheus可以在查询时提交表达式。两者都需要明确窗口和计算口径。业务侧可以接入应用数据或配置接口检查；接口探测耗时与真实用户请求耗时仍是不同证据。</a:t>
            </a:r>
          </a:p>
          <a:p>
            <a:pPr/>
            <a:endParaRPr lang="zh-CN" dirty="0"/>
          </a:p>
          <a:p>
            <a:pPr/>
            <a:r>
              <a:rPr lang="zh-CN" dirty="0"/>
              <a:t>Netdata本机Agent提供容器用量、历史和聚合查询，官方容器指标列表还列出容器PSI和CPU限流。因此，如果我们缺的是本机资源等待等细项和近期历史，它值得试验。这里选择的实现路径是读取本机历史，再实现按增长筛选候选；不是宣称Netdata完全没有计算能力。业务信息同样需要对应应用集成，或应用自己提供指标。所有列出的字段是否在目标内核、权限和Docker版本下可用，仍需实测。</a:t>
            </a:r>
          </a:p>
          <a:p>
            <a:pPr/>
            <a:endParaRPr lang="zh-CN" dirty="0"/>
          </a:p>
          <a:p>
            <a:pPr/>
            <a:r>
              <a:rPr lang="zh-CN" dirty="0"/>
              <a:t>实际选择时，已有基础历史而且够用就先复用；需要本机压力细项时试验Netdata；需要灵活计算和筛选结果时评估Prometheus；已有Zabbix则先核查模板和计算项。若多个工具都满足所需信息，这一维度就不能硬分胜负，再比较取数位置和接入工作量。Monit主要面向固定服务检查和动作，放在第十六页比较，不强行放进这张动态容器信息表。</a:t>
            </a:r>
          </a:p>
          <a:p>
            <a:pPr/>
            <a:endParaRPr lang="zh-CN" dirty="0"/>
          </a:p>
          <a:p>
            <a:pPr/>
            <a:r>
              <a:rPr lang="zh-CN" dirty="0"/>
              <a:t>这些数据只帮助筛选候选。信息缺失不能当作零，业务是否允许停止仍由公司提供，执行前还要本机复核当前状态和目标身份。表格依据官方文档能力，并非Docker二十九与cgroup第二版组合的实测结论。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</a:t>
            </a:r>
          </a:p>
          <a:p>
            <a:pPr/>
            <a:r>
              <a:rPr lang="en-US" dirty="0"/>
              <a:t>https://docs.kernel.org/accounting/psi.html</a:t>
            </a:r>
          </a:p>
          <a:p>
            <a:pPr/>
            <a:r>
              <a:rPr lang="en-US" dirty="0"/>
              <a:t>https://beszel.dev/guide/rest-api</a:t>
            </a:r>
          </a:p>
          <a:p>
            <a:pPr/>
            <a:r>
              <a:rPr lang="en-US" dirty="0"/>
              <a:t>https://prometheus.io/docs/prometheus/latest/querying/api/</a:t>
            </a:r>
          </a:p>
          <a:p>
            <a:pPr/>
            <a:r>
              <a:rPr lang="en-US" dirty="0"/>
              <a:t>https://www.zabbix.com/integrations/docker</a:t>
            </a:r>
          </a:p>
          <a:p>
            <a:pPr/>
            <a:r>
              <a:rPr lang="en-US" dirty="0"/>
              <a:t>https://learn.netdata.cloud/docs/collecting-metrics/collectors/containers-and-vms/containers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本页仅在现成策略仍有明确覆盖缺口时展开。已被现成策略覆盖的功能可直接复用，不要求全部重新开发。</a:t>
            </a:r>
          </a:p>
          <a:p>
            <a:pPr/>
            <a:endParaRPr lang="zh-CN" dirty="0"/>
          </a:p>
          <a:p>
            <a:pPr/>
            <a:r>
              <a:rPr lang="zh-CN" dirty="0"/>
              <a:t>这一页比较的核心，是数据平台能替后面的判断完成多少计算。两者都能提供指标和历史，因此不能把Beszel概括成只有展示、没有计算。</a:t>
            </a:r>
          </a:p>
          <a:p>
            <a:pPr/>
            <a:endParaRPr lang="zh-CN" dirty="0"/>
          </a:p>
          <a:p>
            <a:pPr/>
            <a:r>
              <a:rPr lang="zh-CN" dirty="0"/>
              <a:t>Beszel配套Agent采集主机和容器指标，平台提供历史查看、既定统计和告警，也能通过REST API读取记录。它适合快速建立基础监控。需要更复杂的自定义历史计算时，本方案通常把计算放到自己的程序里，具体API字段、历史粒度和版本需要核对。</a:t>
            </a:r>
          </a:p>
          <a:p>
            <a:pPr/>
            <a:endParaRPr lang="zh-CN" dirty="0"/>
          </a:p>
          <a:p>
            <a:pPr/>
            <a:r>
              <a:rPr lang="zh-CN" dirty="0"/>
              <a:t>Prometheus通常从node_exporter、cAdvisor或应用暴露的指标接口拉取数据，保存时间序列。PromQL可进行筛选、聚合、变化计算和排序，记录规则可以定期计算并保存结果。采集器、标签、表达式和规则需要配置，它不会自动知道我们的判断标准。</a:t>
            </a:r>
          </a:p>
          <a:p>
            <a:pPr/>
            <a:endParaRPr lang="zh-CN" dirty="0"/>
          </a:p>
          <a:p>
            <a:pPr/>
            <a:r>
              <a:rPr lang="zh-CN" dirty="0"/>
              <a:t>以一个假设需求为例：筛选过去10分钟内存净增长、当前超过2 GB的容器，并按增长量排序。阈值只是示例，不是生产建议。Beszel路线获取可用历史记录，由程序算增长、筛选和排序；Prometheus路线可以用PromQL计算，程序读取结果。这里使用净增长而非严格近期增长，避免把首尾变化误当成每个采样点都在增长。</a:t>
            </a:r>
          </a:p>
          <a:p>
            <a:pPr/>
            <a:endParaRPr lang="zh-CN" dirty="0"/>
          </a:p>
          <a:p>
            <a:pPr/>
            <a:r>
              <a:rPr lang="zh-CN" dirty="0"/>
              <a:t>如果仅需基础指标和少量简单条件，可以先评估Beszel；如果经常需要自定义历史计算、多指标组合和复用计算结果，Prometheus更有优势。不能据此断言总开发量必然更少。无论哪种路线，排名都不是根因或执行授权，公司业务权限、执行前本机复核和恢复验证仍需实现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</a:t>
            </a:r>
          </a:p>
          <a:p>
            <a:pPr/>
            <a:r>
              <a:rPr lang="en-US" dirty="0"/>
              <a:t>https://prometheus.io/docs/introduction/overview/</a:t>
            </a:r>
          </a:p>
          <a:p>
            <a:pPr/>
            <a:r>
              <a:rPr lang="en-US" dirty="0"/>
              <a:t>https://prometheus.io/docs/prometheus/latest/querying/api/</a:t>
            </a:r>
          </a:p>
          <a:p>
            <a:pPr/>
            <a:r>
              <a:rPr lang="en-US" dirty="0"/>
              <a:t>https://prometheus.io/docs/prometheus/latest/configuration/recording_rules/</a:t>
            </a:r>
          </a:p>
          <a:p>
            <a:pPr/>
            <a:r>
              <a:rPr lang="en-US" dirty="0"/>
              <a:t>https://beszel.dev/guide/what-is-beszel</a:t>
            </a:r>
          </a:p>
          <a:p>
            <a:pPr/>
            <a:r>
              <a:rPr lang="en-US" dirty="0"/>
              <a:t>https://beszel.dev/guide/rest-api</a:t>
            </a:r>
          </a:p>
          <a:p>
            <a:pPr/>
            <a:endParaRPr lang="zh-CN" dirty="0"/>
          </a:p>
          <a:p>
            <a:pPr/>
            <a:r>
              <a:rPr lang="zh-CN" dirty="0"/>
              <a:t>上述来源沿用本轮调研已核验的官方资料。本页比较框架属于针对服务器资源保护任务的整理，没有部署或性能实测。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本页仅在现成策略仍有明确覆盖缺口时展开。已被现成策略覆盖的功能可直接复用，不要求全部重新开发。</a:t>
            </a:r>
          </a:p>
          <a:p>
            <a:pPr/>
            <a:endParaRPr lang="zh-CN" dirty="0"/>
          </a:p>
          <a:p>
            <a:pPr/>
            <a:r>
              <a:rPr lang="zh-CN" dirty="0"/>
              <a:t>定位要交出的结果，是一个有依据而且允许处理的候选。观测告诉我们S1内存持续紧张，定位继续回答三个问题：对象是谁，处理它为什么可能有帮助，以及公司是否允许这样处理。</a:t>
            </a:r>
          </a:p>
          <a:p>
            <a:pPr/>
            <a:endParaRPr lang="zh-CN" dirty="0"/>
          </a:p>
          <a:p>
            <a:pPr/>
            <a:r>
              <a:rPr lang="zh-CN" dirty="0"/>
              <a:t>先确认B的完整容器身份、所属业务和当前状态。历史数据可能指向已经销毁的容器，同名容器重建后也不一定是原来的对象，因此不能只按名字执行。然后结合用量、近期增长和资源压力判断，停止B可能释放内存。这是筛选候选的依据，不是已经证明B就是事故根因，更不能精确保证能够释放多少。</a:t>
            </a:r>
          </a:p>
          <a:p>
            <a:pPr/>
            <a:endParaRPr lang="zh-CN" dirty="0"/>
          </a:p>
          <a:p>
            <a:pPr/>
            <a:r>
              <a:rPr lang="zh-CN" dirty="0"/>
              <a:t>最后核对业务配置。贯穿案例里，B是公司允许中断的离线任务，A是不能自动停止的数据库；这只是解释流程的假设，真实清单尚未提供。Docker标签可以承载业务身份等元数据，但标签本身不是可信授权的替代品，权限应来自公司认可并维护的配置。未知业务不进入自动处理名单。</a:t>
            </a:r>
          </a:p>
          <a:p>
            <a:pPr/>
            <a:endParaRPr lang="zh-CN" dirty="0"/>
          </a:p>
          <a:p>
            <a:pPr/>
            <a:r>
              <a:rPr lang="zh-CN" dirty="0"/>
              <a:t>定位交出的候选包括完整身份、资源证据、允许动作和先后顺序。多个候选之间按公司规定的优先级和预期缓解效果选择；如果没有安全候选，就告警转人工。定位不直接发出停止命令，处置环节仍要复核风险、身份和最新权限。下一页据此比较各组合能省下多少筛选工作。</a:t>
            </a:r>
          </a:p>
          <a:p>
            <a:pPr/>
            <a:endParaRPr lang="zh-CN" dirty="0"/>
          </a:p>
          <a:p>
            <a:pPr/>
            <a:r>
              <a:rPr lang="zh-CN" dirty="0"/>
              <a:t>页面输出使用示意字段，实际应传递完整对象ID、建议动作、指标和规则编号，不是自然语言。B、A与S1均是假设对象。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</a:t>
            </a:r>
          </a:p>
          <a:p>
            <a:pPr/>
            <a:r>
              <a:rPr lang="en-US" dirty="0"/>
              <a:t>https://docs.docker.com/reference/cli/docker/inspect/</a:t>
            </a:r>
          </a:p>
          <a:p>
            <a:pPr/>
            <a:r>
              <a:rPr lang="en-US" dirty="0"/>
              <a:t>https://docs.docker.com/engine/manage-resources/labels/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本页仅在现成策略仍有明确覆盖缺口时展开。已被现成策略覆盖的功能可直接复用，不要求全部重新开发。</a:t>
            </a:r>
          </a:p>
          <a:p>
            <a:pPr/>
            <a:endParaRPr lang="zh-CN" dirty="0"/>
          </a:p>
          <a:p>
            <a:pPr/>
            <a:r>
              <a:rPr lang="zh-CN" dirty="0"/>
              <a:t>定位流程使用的是一组承担不同子任务的工具，并不要求部署一个独立的“定位平台”。这里定位的目标是选出可能缓解压力且允许处理的候选，不承诺查明根因。表格是职责分解，不是五套互斥方案，也不是要求每次调用全部工具。</a:t>
            </a:r>
          </a:p>
          <a:p>
            <a:pPr/>
            <a:endParaRPr lang="zh-CN" dirty="0"/>
          </a:p>
          <a:p>
            <a:pPr/>
            <a:r>
              <a:rPr lang="zh-CN" dirty="0"/>
              <a:t>首先，定位通过观测模块提供的数据，或通过平台HTTP API获取既有证据。Beszel API可读取记录，Prometheus HTTP API返回指标或计算结果。程序处理结构化字段，同时核对对象身份、时间与数据有效性。这一步复用观测成果，避免每次重新采集。没有平台也可使用观测模块在本机采集并保存的数据。</a:t>
            </a:r>
          </a:p>
          <a:p>
            <a:pPr/>
            <a:endParaRPr lang="zh-CN" dirty="0"/>
          </a:p>
          <a:p>
            <a:pPr/>
            <a:r>
              <a:rPr lang="zh-CN" dirty="0"/>
              <a:t>其次，PromQL是Prometheus的查询语言，可以计算变化、按条件筛选和按数值排序，例如得到容器B的内存增长较高这一证据。表达式必须自己配置，容器指标由采集器提供，内存变化不能混用累计计数器速率口径。结果只是数值筛选，不是自动授权。使用Beszel时，同类复杂计算可由本机程序根据可用历史补充；已有Zabbix也可复用计算项和触发器作为线索。本页集中展示一条可理解的工具链，不否认这些替代能力。</a:t>
            </a:r>
          </a:p>
          <a:p>
            <a:pPr/>
            <a:endParaRPr lang="zh-CN" dirty="0"/>
          </a:p>
          <a:p>
            <a:pPr/>
            <a:r>
              <a:rPr lang="zh-CN" dirty="0"/>
              <a:t>Docker Engine的容器Inspect接口或docker inspect命令用于核对完整容器ID、运行状态与标签，关联业务对象。命令默认返回JSON，可供程序读取。标签属于元数据，只有公司维护并核验的配置才能作为权限依据，不能把标签自动视为可信授权。</a:t>
            </a:r>
          </a:p>
          <a:p>
            <a:pPr/>
            <a:endParaRPr lang="zh-CN" dirty="0"/>
          </a:p>
          <a:p>
            <a:pPr/>
            <a:r>
              <a:rPr lang="zh-CN" dirty="0"/>
              <a:t>如果既有容器数据不能解释主机压力，再按需使用pidstat、/proc补充宿主机进程CPU、内存或IO信息。pidstat属于sysstat工具集，不能假设目标Ubuntu已经安装。进程指标与容器统计口径不同，PID到容器仍需关联。当前手册中的新输出选项不代表Ubuntu 22.04所装版本都支持；本页不依赖其JSON选项。补查是获取证据，不会自动完成根因诊断。复杂根因分析可能还需日志或专门性能分析工具，不纳入第一版紧急候选筛选的必选链路。</a:t>
            </a:r>
          </a:p>
          <a:p>
            <a:pPr/>
            <a:endParaRPr lang="zh-CN" dirty="0"/>
          </a:p>
          <a:p>
            <a:pPr/>
            <a:r>
              <a:rPr lang="zh-CN" dirty="0"/>
              <a:t>最后，公司提供保护名单、业务优先级和允许动作，本机规则使用这些配置及指标，过滤对象并生成候选。假设B是允许中断的离线任务而A是受保护数据库，规则才能把B列为候选。是否预计能缓解压力也需要规则和验证，不能把占用最多直接等同于必须停止。自研重点是条件、优先级、无候选分支、数据有效性和身份关联，工具不替公司决定业务取舍。</a:t>
            </a:r>
          </a:p>
          <a:p>
            <a:pPr/>
            <a:endParaRPr lang="zh-CN" dirty="0"/>
          </a:p>
          <a:p>
            <a:pPr/>
            <a:r>
              <a:rPr lang="zh-CN" dirty="0"/>
              <a:t>最终输出是结构化候选，如容器ID、指标依据、规则编号和建议动作，也可以返回无候选。处置模块仍需执行前复核。观测说B增长多是证据，定位说B符合本次候选规则才是决策。以上是待验证方案，没有实施或性能测量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</a:t>
            </a:r>
          </a:p>
          <a:p>
            <a:pPr/>
            <a:r>
              <a:rPr lang="en-US" dirty="0"/>
              <a:t>https://prometheus.io/docs/prometheus/latest/querying/api/</a:t>
            </a:r>
          </a:p>
          <a:p>
            <a:pPr/>
            <a:r>
              <a:rPr lang="en-US" dirty="0"/>
              <a:t>https://prometheus.io/docs/prometheus/latest/querying/functions/</a:t>
            </a:r>
          </a:p>
          <a:p>
            <a:pPr/>
            <a:r>
              <a:rPr lang="en-US" dirty="0"/>
              <a:t>https://prometheus.io/docs/prometheus/latest/querying/operators/</a:t>
            </a:r>
          </a:p>
          <a:p>
            <a:pPr/>
            <a:r>
              <a:rPr lang="en-US" dirty="0"/>
              <a:t>https://beszel.dev/guide/rest-api</a:t>
            </a:r>
          </a:p>
          <a:p>
            <a:pPr/>
            <a:r>
              <a:rPr lang="en-US" dirty="0"/>
              <a:t>https://docs.docker.com/reference/cli/docker/inspect/</a:t>
            </a:r>
          </a:p>
          <a:p>
            <a:pPr/>
            <a:r>
              <a:rPr lang="en-US" dirty="0"/>
              <a:t>https://docs.docker.com/engine/manage-resources/labels/</a:t>
            </a:r>
          </a:p>
          <a:p>
            <a:pPr/>
            <a:r>
              <a:rPr lang="en-US" dirty="0"/>
              <a:t>https://man7.org/linux/man-pages/man1/pidstat.1.html</a:t>
            </a:r>
          </a:p>
          <a:p>
            <a:pPr/>
            <a:endParaRPr lang="zh-CN" dirty="0"/>
          </a:p>
          <a:p>
            <a:pPr/>
            <a:r>
              <a:rPr lang="zh-CN" dirty="0"/>
              <a:t>Docker Inspect与pidstat本轮经Anysearch查询原文；其余沿用本轮已有官方调研。职责分解和候选规则属于本方案设计。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本页仅在现成策略仍有明确覆盖缺口时展开。已被现成策略覆盖的功能可直接复用，不要求全部重新开发。</a:t>
            </a:r>
          </a:p>
          <a:p>
            <a:pPr/>
            <a:endParaRPr lang="zh-CN" dirty="0"/>
          </a:p>
          <a:p>
            <a:pPr/>
            <a:r>
              <a:rPr lang="zh-CN" dirty="0"/>
              <a:t>处置接到的是一个候选，而不是可以立即执行的命令。它的目标是在授权范围内缓解风险，并用新的资源与业务状态确认结果。</a:t>
            </a:r>
          </a:p>
          <a:p>
            <a:pPr/>
            <a:endParaRPr lang="zh-CN" dirty="0"/>
          </a:p>
          <a:p>
            <a:pPr/>
            <a:r>
              <a:rPr lang="zh-CN" dirty="0"/>
              <a:t>执行前重新确认内存风险仍然存在、B还是原来的容器、最新业务权限允许停止，并检查是否已有相同动作在进行。风险消失就取消，目标变化就返回定位；过期告警不能直接触发危险动作。</a:t>
            </a:r>
          </a:p>
          <a:p>
            <a:pPr/>
            <a:endParaRPr lang="zh-CN" dirty="0"/>
          </a:p>
          <a:p>
            <a:pPr/>
            <a:r>
              <a:rPr lang="zh-CN" dirty="0"/>
              <a:t>确认后通过Docker执行约定动作，并设置等待时间和尝试上限。Docker停止通常先发送配置的停止信号，等待宽限期后可能强制终止，因此强制终止是否允许也要写入业务约定。CPU争用可以限制用量，内存紧张可能停止可中断任务；磁盘满则必须另有明确的清理范围，不能把停止当成通用方案。动态降低内存上限也不是无风险的内存释放办法。</a:t>
            </a:r>
          </a:p>
          <a:p>
            <a:pPr/>
            <a:endParaRPr lang="zh-CN" dirty="0"/>
          </a:p>
          <a:p>
            <a:pPr/>
            <a:r>
              <a:rPr lang="zh-CN" dirty="0"/>
              <a:t>执行成功之后重新读取内存压力，并检查关键业务。命令返回成功仅表示操作完成，不能证明整机风险已经缓解。理想输出是B已停止、压力下降且关键业务恢复；如果动作失败或没有改善，就记录并按预定路径升级，不无限重试或不断停止更多对象。</a:t>
            </a:r>
          </a:p>
          <a:p>
            <a:pPr/>
            <a:endParaRPr lang="zh-CN" dirty="0"/>
          </a:p>
          <a:p>
            <a:pPr/>
            <a:r>
              <a:rPr lang="zh-CN" dirty="0"/>
              <a:t>什么时候恢复任务、什么时候解除限制，也要有公司认可的条件。恢复前设置冷却，协调Docker和systemd等自动拉起机制，并记录触发原因、对象身份、动作以及前后结果。这些能力是否由配置完成、由流程编排完成，或需要自己写代码，下一页用同一组问题比较。</a:t>
            </a:r>
          </a:p>
          <a:p>
            <a:pPr/>
            <a:endParaRPr lang="zh-CN" dirty="0"/>
          </a:p>
          <a:p>
            <a:pPr/>
            <a:r>
              <a:rPr lang="zh-CN" dirty="0"/>
              <a:t>示例结果字段描述成功分支，不是实际执行记录。失败或无改善分支也应输出结构化状态和原因。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</a:t>
            </a:r>
          </a:p>
          <a:p>
            <a:pPr/>
            <a:r>
              <a:rPr lang="en-US" dirty="0"/>
              <a:t>https://docs.docker.com/reference/cli/docker/container/stop/</a:t>
            </a:r>
          </a:p>
          <a:p>
            <a:pPr/>
            <a:r>
              <a:rPr lang="en-US" dirty="0"/>
              <a:t>https://docs.docker.com/reference/dockerfile/#healthcheck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本页仅在现成策略仍有明确覆盖缺口时展开。已被现成策略覆盖的功能可直接复用，不要求全部重新开发。</a:t>
            </a:r>
          </a:p>
          <a:p>
            <a:pPr/>
            <a:endParaRPr lang="zh-CN" dirty="0"/>
          </a:p>
          <a:p>
            <a:pPr/>
            <a:r>
              <a:rPr lang="zh-CN" dirty="0"/>
              <a:t>本页具体说明处置可以复用哪些接口和工具。这些是按任务组合的组件，不是五套互斥方案，也不要求全部安装。输入是定位生成的结构化候选，包括对象ID、指标依据、规则编号和建议动作。候选不是立即执行的命令。</a:t>
            </a:r>
          </a:p>
          <a:p>
            <a:pPr/>
            <a:endParaRPr lang="zh-CN" dirty="0"/>
          </a:p>
          <a:p>
            <a:pPr/>
            <a:r>
              <a:rPr lang="zh-CN" dirty="0"/>
              <a:t>执行前使用Docker容器Inspect接口核对完整身份和当前状态，读取本机Linux指标复核压力，例如/proc/meminfo和/proc/pressure/memory。同时重新检查公司配置中的允许动作、保护名单和当前执行策略，任何一项不满足就退出或升级。接口不会自动完成授权判断。</a:t>
            </a:r>
          </a:p>
          <a:p>
            <a:pPr/>
            <a:endParaRPr lang="zh-CN" dirty="0"/>
          </a:p>
          <a:p>
            <a:pPr/>
            <a:r>
              <a:rPr lang="zh-CN" dirty="0"/>
              <a:t>动作层复用Docker Engine对应API或docker update、stop、restart命令。update可调整支持的资源限制，stop停止指定容器，restart重启指定容器。实际动作及参数必须预先允许，并在目标版本验证。降低内存上限可能有副作用，重启也不保证缓解问题；本页不将这些动作视为可以随意互换。stop在宽限期后可能升级为SIGKILL，许可必须覆盖该行为。宿主机systemd服务可用systemctl或D-Bus控制，但本方案以Docker容器为主要对象，因此未放入表格主行。</a:t>
            </a:r>
          </a:p>
          <a:p>
            <a:pPr/>
            <a:endParaRPr lang="zh-CN" dirty="0"/>
          </a:p>
          <a:p>
            <a:pPr/>
            <a:r>
              <a:rPr lang="zh-CN" dirty="0"/>
              <a:t>并发和等待控制可复用flock及HTTP客户端的超时机制。flock提供协作式文件锁，只有使用同一锁协议的本机执行器才能互斥，不能控制所有外部人工操作，也不是跨机器分布式锁。获取锁的等待超时、API请求超时和Docker停止宽限期是不同概念。客户端超时不能保证服务端动作已经取消，超时后应先查询状态，避免盲目重试。冷却时间、跨调用次数上限和动作记录仍需执行器维护，不能把锁和超时说成完整防重复能力。</a:t>
            </a:r>
          </a:p>
          <a:p>
            <a:pPr/>
            <a:endParaRPr lang="zh-CN" dirty="0"/>
          </a:p>
          <a:p>
            <a:pPr/>
            <a:r>
              <a:rPr lang="zh-CN" dirty="0"/>
              <a:t>已有多步运维流程时可选择Ansible Playbook，利用条件、等待、重试和失败分支编排操作。核对、执行和检查任务仍需定义，跨运行互斥需另加控制。中心Ansible不是本机常驻紧急保护的必选依赖。本机紧急流程不应只等待中心下发。已有Monit可用于固定服务检查和恢复，已有Zabbix可用动作触发预配置命令，这些是按现有资产复用的备选，不替代底层动作接口和业务规则。</a:t>
            </a:r>
          </a:p>
          <a:p>
            <a:pPr/>
            <a:endParaRPr lang="zh-CN" dirty="0"/>
          </a:p>
          <a:p>
            <a:pPr/>
            <a:r>
              <a:rPr lang="zh-CN" dirty="0"/>
              <a:t>恢复检查同时关注资源和业务。Docker HEALTHCHECK依赖我们提供的检查命令，其结果只代表该探针覆盖的范围；没有配置就没有这项信号。通过Docker Inspect可读到已配置的健康状态。停止B后不要求B健康运行，而应检查主机压力和受保护的关键业务。应用健康接口、错误率、延迟或任务进度等应按业务选择，与本机资源指标共同验证。程序定义阈值、观察窗口、成功条件以及无改善时的升级方式。告警消失或命令返回成功都不单独证明恢复。</a:t>
            </a:r>
          </a:p>
          <a:p>
            <a:pPr/>
            <a:endParaRPr lang="zh-CN" dirty="0"/>
          </a:p>
          <a:p>
            <a:pPr/>
            <a:r>
              <a:rPr lang="zh-CN" dirty="0"/>
              <a:t>最终输出结构化的执行状态、动作前后指标、业务检查结果和失败原因，并留操作记录。自研重点是授权复核、动作参数、冷却与次数控制、恢复标准及失败升级。以上是候选设计，未在目标服务器部署或实测。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</a:t>
            </a:r>
          </a:p>
          <a:p>
            <a:pPr/>
            <a:r>
              <a:rPr lang="en-US" dirty="0"/>
              <a:t>https://docs.docker.com/reference/cli/docker/inspect/</a:t>
            </a:r>
          </a:p>
          <a:p>
            <a:pPr/>
            <a:r>
              <a:rPr lang="en-US" dirty="0"/>
              <a:t>https://docs.docker.com/reference/cli/docker/container/update/</a:t>
            </a:r>
          </a:p>
          <a:p>
            <a:pPr/>
            <a:r>
              <a:rPr lang="en-US" dirty="0"/>
              <a:t>https://docs.docker.com/reference/cli/docker/container/stop/</a:t>
            </a:r>
          </a:p>
          <a:p>
            <a:pPr/>
            <a:r>
              <a:rPr lang="en-US" dirty="0"/>
              <a:t>https://docs.docker.com/reference/cli/docker/container/restart/</a:t>
            </a:r>
          </a:p>
          <a:p>
            <a:pPr/>
            <a:r>
              <a:rPr lang="en-US" dirty="0"/>
              <a:t>https://man7.org/linux/man-pages/man1/flock.1.html</a:t>
            </a:r>
          </a:p>
          <a:p>
            <a:pPr/>
            <a:r>
              <a:rPr lang="en-US" dirty="0"/>
              <a:t>https://docs.ansible.com/ansible/latest/playbook_guide/playbooks_error_handling.html</a:t>
            </a:r>
          </a:p>
          <a:p>
            <a:pPr/>
            <a:r>
              <a:rPr lang="en-US" dirty="0"/>
              <a:t>https://docs.ansible.com/ansible/latest/playbook_guide/playbooks_loops.html</a:t>
            </a:r>
          </a:p>
          <a:p>
            <a:pPr/>
            <a:r>
              <a:rPr lang="en-US" dirty="0"/>
              <a:t>https://docs.docker.com/reference/dockerfile/#healthcheck</a:t>
            </a:r>
          </a:p>
          <a:p>
            <a:pPr/>
            <a:r>
              <a:rPr lang="en-US" dirty="0"/>
              <a:t>https://docs.kernel.org/accounting/psi.html</a:t>
            </a:r>
          </a:p>
          <a:p>
            <a:pPr/>
            <a:endParaRPr lang="zh-CN" dirty="0"/>
          </a:p>
          <a:p>
            <a:pPr/>
            <a:r>
              <a:rPr lang="zh-CN" dirty="0"/>
              <a:t>Docker停止信号、flock及HEALTHCHECK本轮经Anysearch检索官方文档和手册，其余沿用已有调研。工具职责分类属于本方案整理。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本页仅在现成策略仍有明确覆盖缺口时展开。已被现成策略覆盖的功能可直接复用，不要求全部重新开发。</a:t>
            </a:r>
          </a:p>
          <a:p>
            <a:pPr/>
            <a:endParaRPr lang="zh-CN" dirty="0"/>
          </a:p>
          <a:p>
            <a:pPr/>
            <a:r>
              <a:rPr lang="zh-CN" dirty="0"/>
              <a:t>这一页比较两条路线为同一保护任务省下什么工作，以及仍需建设什么。Beszel路线始终以公司已有Beszel且基础信息足够为前提，这一点尚未核实；Prometheus路线同样不是已经实施的系统。</a:t>
            </a:r>
          </a:p>
          <a:p>
            <a:pPr/>
            <a:endParaRPr lang="zh-CN" dirty="0"/>
          </a:p>
          <a:p>
            <a:pPr/>
            <a:r>
              <a:rPr lang="zh-CN" dirty="0"/>
              <a:t>Beszel可以复用基础主机与容器用量、历史、集中查看和告警，也提供PocketBase REST API读取已保存记录，因此不能把它写成只有图表、程序无法利用。本方案让本机程序完成紧急检测和候选判断，需要时读取历史；缺少的细项、短期采样或历史处理按实际需要补充。API结构和记录时效要核对实际版本。</a:t>
            </a:r>
          </a:p>
          <a:p>
            <a:pPr/>
            <a:endParaRPr lang="zh-CN" dirty="0"/>
          </a:p>
          <a:p>
            <a:pPr/>
            <a:r>
              <a:rPr lang="zh-CN" dirty="0"/>
              <a:t>Prometheus路线复用配套采集器、时间序列保存、表达式查询、记录规则和告警规则。增长筛选、排序和组合资源与业务条件可以放在平台，程序直接查询计算结果；公司授权和执行前当前状态复核仍留本机。需要增加的工作是配置采集器、标签关联、查询和告警表达式、存储与访问权限，还要核验业务指标和采集时效。公司已有Prometheus时可以复用这些资产，不能把维护当成它独有的缺点。</a:t>
            </a:r>
          </a:p>
          <a:p>
            <a:pPr/>
            <a:endParaRPr lang="zh-CN" dirty="0"/>
          </a:p>
          <a:p>
            <a:pPr/>
            <a:r>
              <a:rPr lang="zh-CN" dirty="0"/>
              <a:t>两条路线都要维护公司业务配置，完成动作控制、恢复检查、操作记录和版本故障测试。Prometheus可以减少一部分自行保存历史和处理数据的代码，但表达式设计、标签管理和平台维护仍有成本，所以不能提前声称总开发量一定更少，也不能没有实测就声称响应更快或可靠性更高。</a:t>
            </a:r>
          </a:p>
          <a:p>
            <a:pPr/>
            <a:endParaRPr lang="zh-CN" dirty="0"/>
          </a:p>
          <a:p>
            <a:pPr/>
            <a:r>
              <a:rPr lang="zh-CN" dirty="0"/>
              <a:t>如果公司已有Beszel、只需要少量基础条件，可以先验证本机保护程序；如果需要反复组合资源与业务指标，或已经使用Prometheus，它值得作为对照候选。这些能力也可以组合复用，不要求一开始迁移现有监控。建议同一台机器、相同负载，比较数据是否齐全、数据年龄、组件开销、中心断连行为和仍需编写的功能，再决定采用哪种组合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</a:t>
            </a:r>
          </a:p>
          <a:p>
            <a:pPr/>
            <a:r>
              <a:rPr lang="en-US" dirty="0"/>
              <a:t>https://beszel.dev/guide/rest-api</a:t>
            </a:r>
          </a:p>
          <a:p>
            <a:pPr/>
            <a:r>
              <a:rPr lang="en-US" dirty="0"/>
              <a:t>https://prometheus.io/docs/prometheus/latest/configuration/recording_rules/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只是补充路线，前提是公司已有Beszel且基础数据足够，这一事实尚待确认。Agent采集主机和容器指标，平台保存记录并供人员查看和告警，程序也能使用API，不能把Beszel写成只有图表。字段、历史粒度和数据年龄要核对实际版本。</a:t>
            </a:r>
          </a:p>
          <a:p>
            <a:pPr/>
            <a:endParaRPr lang="zh-CN" dirty="0"/>
          </a:p>
          <a:p>
            <a:pPr/>
            <a:r>
              <a:rPr lang="zh-CN" dirty="0"/>
              <a:t>本机程序只覆盖已确认的缺口，例如按需读取历史计算变化、结合公司规则选候选、执行前读取本机最新状态。缺少指标时再采集，冷却、记录和恢复检查按需求实现。资源限额、日志轮转和适用的内存应急机制继续承担各自职责，新增程序需要明确与它们的管理边界。当前是待验证组合设计，不能声称额外程序一定轻量、快速或可靠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来源：https://beszel.dev/guide/rest-api</a:t>
            </a:r>
          </a:p>
          <a:p>
            <a:pPr/>
            <a:r>
              <a:rPr lang="en-US" dirty="0"/>
              <a:t>https://www.beszel.dev/guide/what-is-beszel</a:t>
            </a:r>
          </a:p>
          <a:p>
            <a:pPr/>
            <a:r>
              <a:rPr lang="en-US" dirty="0"/>
              <a:t>https://docs.docker.com/engine/containers/resource_constraints/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本页仅在现成策略仍有明确覆盖缺口时展开。已被现成策略覆盖的功能可直接复用，不要求全部重新开发。</a:t>
            </a:r>
          </a:p>
          <a:p>
            <a:pPr/>
            <a:endParaRPr lang="zh-CN" dirty="0"/>
          </a:p>
          <a:p>
            <a:pPr/>
            <a:r>
              <a:rPr lang="zh-CN" dirty="0"/>
              <a:t>这一条候选路线使用Prometheus配合本机保护程序。它可以承担持续采集后的历史保存、查询计算和告警条件判断，让本机程序复用计算后的证据。自动处置所需的业务授权、身份复核、动作控制和恢复检查仍要完成。</a:t>
            </a:r>
          </a:p>
          <a:p>
            <a:pPr/>
            <a:endParaRPr lang="zh-CN" dirty="0"/>
          </a:p>
          <a:p>
            <a:pPr/>
            <a:r>
              <a:rPr lang="zh-CN" dirty="0"/>
              <a:t>每台服务器可以部署node_exporter提供主机资源和压力指标，cAdvisor提供容器用量与CPU限流等信息。主机压力不是某个容器的根因证明。请求耗时、错误率或任务积压需要应用或相应采集器提供，安装Prometheus不会自动得到这些业务信息。Docker二十九与cgroup第二版组合下的指标、权限和容器发现必须验证。</a:t>
            </a:r>
          </a:p>
          <a:p>
            <a:pPr/>
            <a:endParaRPr lang="zh-CN" dirty="0"/>
          </a:p>
          <a:p>
            <a:pPr/>
            <a:r>
              <a:rPr lang="zh-CN" dirty="0"/>
              <a:t>本页示例由一个集中部署的Prometheus定期拉取指标、保存时间序列。本机程序通过HTTP API提交PromQL查询，得到增长筛选或组合条件的结果。常用表达式也可以通过记录规则定期计算并保存结果；告警规则则判断何时产生告警。表达式、样本口径和标签对应关系都要配置，并不是平台自动知道应该如何判断风险。Prometheus也能选择其他部署位置，官方所说每个服务独立运行，不等于跨机网络中断后还能获得远端新样本。</a:t>
            </a:r>
          </a:p>
          <a:p>
            <a:pPr/>
            <a:endParaRPr lang="zh-CN" dirty="0"/>
          </a:p>
          <a:p>
            <a:pPr/>
            <a:r>
              <a:rPr lang="zh-CN" dirty="0"/>
              <a:t>本机程序读取公司维护的业务权限，结合平台结果与本机当前状态选出候选，复核后调用Docker接口执行动作，再检查资源与业务恢复，并记录结果。必要的紧急检测保留在本机；平台不可用或数据过期时，不把缺失当作正常，也不按过期排名停止容器，应走事先验证过的本机判断或告警退出路径。</a:t>
            </a:r>
          </a:p>
          <a:p>
            <a:pPr/>
            <a:endParaRPr lang="zh-CN" dirty="0"/>
          </a:p>
          <a:p>
            <a:pPr/>
            <a:r>
              <a:rPr lang="zh-CN" dirty="0"/>
              <a:t>Grafana和Alertmanager按实际需要加入。Grafana供人员查询、展示、探索和告警；Alertmanager负责告警分组、去重和通知。通知去重不等于动作去重，不能代替执行器的互斥、冷却和重试控制。第一版可以先验证查询取数，不强制把每个动作都串在通知之后。需要配置的主要内容是采集目标、标签、查询与告警规则、历史保存时间和访问权限。以上是待验证设计，没有部署或性能实测。</a:t>
            </a:r>
          </a:p>
          <a:p>
            <a:pPr/>
            <a:endParaRPr lang="zh-CN" dirty="0"/>
          </a:p>
          <a:p>
            <a:pPr/>
            <a:r>
              <a:rPr lang="zh-CN" dirty="0"/>
              <a:t>本机补充程序只承担缺口，需与资源限额、日志轮转和已有应急机制协调。来源：https://prometheus.io/docs/introduction/overview/ 和 https://prometheus.io/docs/prometheus/latest/querying/api/ 。Grafana能力参见 https://grafana.com/docs/grafana/latest/introduction/ 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本页仅在现成策略仍有明确覆盖缺口时展开。已被现成策略覆盖的功能可直接复用，不要求全部重新开发。</a:t>
            </a:r>
          </a:p>
          <a:p>
            <a:pPr/>
            <a:endParaRPr lang="zh-CN" dirty="0"/>
          </a:p>
          <a:p>
            <a:pPr/>
            <a:r>
              <a:rPr lang="zh-CN" dirty="0"/>
              <a:t>继续用同一次假设的内存危机说明分工。S1是示例机器；B是允许中断的离线任务，A是受保护数据库，实际业务名单需要公司提供。</a:t>
            </a:r>
          </a:p>
          <a:p>
            <a:pPr/>
            <a:endParaRPr lang="zh-CN" dirty="0"/>
          </a:p>
          <a:p>
            <a:pPr/>
            <a:r>
              <a:rPr lang="zh-CN" dirty="0"/>
              <a:t>采集器先持续提供主机和容器指标，Prometheus记录可用内存、容器用量和压力，业务指标按需接入。我们编写查询表达式，计算一段时间内的内存变化，筛出近期增长的容器，返回B等对象的数值线索和相关指标，业务候选需要后续规则筛选。内存是可升降数值，变化计算要选择合适函数和窗口，不能不加区分套用累计计数器的速率公式。本页不提供未经测试的阈值或生产表达式。</a:t>
            </a:r>
          </a:p>
          <a:p>
            <a:pPr/>
            <a:endParaRPr lang="zh-CN" dirty="0"/>
          </a:p>
          <a:p>
            <a:pPr/>
            <a:r>
              <a:rPr lang="zh-CN" dirty="0"/>
              <a:t>本机程序接到计算结果后，要确认底层数据足够新、候选对应完整容器身份，并查公司维护的业务权限。查询结果的时间点不代表目标刚刚被重新采集，因此还要检查数据年龄和采集健康。A虽然可能占用大，但禁止停止；未知业务同样排除。增长排名只是候选依据，不是根因结论，也不是执行许可。</a:t>
            </a:r>
          </a:p>
          <a:p>
            <a:pPr/>
            <a:endParaRPr lang="zh-CN" dirty="0"/>
          </a:p>
          <a:p>
            <a:pPr/>
            <a:r>
              <a:rPr lang="zh-CN" dirty="0"/>
              <a:t>风险仍在、B身份未变且操作获准时，本机程序才通过Docker执行约定动作。执行器设置超时、互斥和次数上限，协调自动拉起行为。停止可能涉及宽限期后的强制终止，必须属于已允许动作。</a:t>
            </a:r>
          </a:p>
          <a:p>
            <a:pPr/>
            <a:endParaRPr lang="zh-CN" dirty="0"/>
          </a:p>
          <a:p>
            <a:pPr/>
            <a:r>
              <a:rPr lang="zh-CN" dirty="0"/>
              <a:t>执行后首先在本机确认压力和关键业务是否恢复，平台同期趋势可辅助复盘。命令成功或者告警消失都不能单独证明业务恢复；失败或没有改善就记录并按约定升级。第一版先验证查询取数链路，告警通知联动可后续加入；即使收到通知，仍需本机复核。采样间隔、查询窗口、阈值和中心失联行为要在试点中确定，不能宣称秒级保证。</a:t>
            </a:r>
          </a:p>
          <a:p>
            <a:pPr/>
            <a:endParaRPr lang="zh-CN" dirty="0"/>
          </a:p>
          <a:p>
            <a:pPr/>
            <a:r>
              <a:rPr lang="zh-CN" dirty="0"/>
              <a:t>来源：</a:t>
            </a:r>
          </a:p>
          <a:p>
            <a:pPr/>
            <a:r>
              <a:rPr lang="en-US" dirty="0"/>
              <a:t>https://prometheus.io/docs/prometheus/latest/querying/functions/</a:t>
            </a:r>
          </a:p>
          <a:p>
            <a:pPr/>
            <a:r>
              <a:rPr lang="en-US" dirty="0"/>
              <a:t>https://docs.docker.com/reference/cli/docker/container/stop/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无论选择现成策略还是补充设计，都应先补齐故障事实和业务约束。目前参考环境是Ubuntu二十二点零四、systemd二百四十九、cgroup第二版与Docker二十九，不能代表全部机器，也没有验证实际策略是否已启用。公司需提供故障记录、机器配置、业务优先级和允许动作。</a:t>
            </a:r>
          </a:p>
          <a:p>
            <a:pPr/>
            <a:endParaRPr lang="zh-CN" dirty="0"/>
          </a:p>
          <a:p>
            <a:pPr/>
            <a:r>
              <a:rPr lang="zh-CN" dirty="0"/>
              <a:t>选一个明确故障类型与试点对象，在可控环境验证。内存问题评估组级保护，日志增长优先验证轮转，CPU和IO争抢优先验证限额。验收不能只看命令返回，要确认对象选对、动作获准、资源改善并且关键业务符合恢复标准，同时检查误触发、自动拉起、重复动作、失联和过期数据等分支，保留前后记录。</a:t>
            </a:r>
          </a:p>
          <a:p>
            <a:pPr/>
            <a:endParaRPr lang="zh-CN" dirty="0"/>
          </a:p>
          <a:p>
            <a:pPr/>
            <a:r>
              <a:rPr lang="zh-CN" dirty="0"/>
              <a:t>本次希望组长帮助确定优先故障类型、试点机器，以及业务规则提供人。试点证明确有缺口后，才确定需要开发的功能。当前没有部署、压测或性能结论。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本次优先使用官方文档和Ubuntu Jammy版本手册。现成保护策略依据systemd、Linux cgroup、Docker、Monit、Kubernetes和Slurm资料；监控依据Beszel、Prometheus、Zabbix、Netdata及相关采集器；补充执行依据Docker接口、Linux工具、Ansible及健康检查说明。逐页备注列出了相应链接。</a:t>
            </a:r>
          </a:p>
          <a:p>
            <a:pPr/>
            <a:endParaRPr lang="zh-CN" dirty="0"/>
          </a:p>
          <a:p>
            <a:pPr/>
            <a:r>
              <a:rPr lang="zh-CN" dirty="0"/>
              <a:t>文档证明功能存在，不能证明在当前服务器上已经配置正确，也不能证明业务恢复、性能开销或故障时效。示例中的容器、业务权限和阈值不是生产配置，已有平台按条件假设理解。下一步必须通过现场配置核验和试点补充证据。</a:t>
            </a:r>
          </a:p>
          <a:p>
            <a:pPr/>
            <a:endParaRPr lang="zh-CN" dirty="0"/>
          </a:p>
          <a:p>
            <a:pPr/>
            <a:r>
              <a:rPr lang="zh-CN" dirty="0"/>
              <a:t>来源汇总：https://manpages.ubuntu.com/manpages/jammy/man8/systemd-oomd.service.8.html</a:t>
            </a:r>
          </a:p>
          <a:p>
            <a:pPr/>
            <a:r>
              <a:rPr lang="en-US" dirty="0"/>
              <a:t>https://docs.kernel.org/admin-guide/cgroup-v2.html</a:t>
            </a:r>
          </a:p>
          <a:p>
            <a:pPr/>
            <a:r>
              <a:rPr lang="en-US" dirty="0"/>
              <a:t>https://docs.docker.com/</a:t>
            </a:r>
          </a:p>
          <a:p>
            <a:pPr/>
            <a:r>
              <a:rPr lang="en-US" dirty="0"/>
              <a:t>https://mmonit.com/monit/documentation/monit.html</a:t>
            </a:r>
          </a:p>
          <a:p>
            <a:pPr/>
            <a:r>
              <a:rPr lang="en-US" dirty="0"/>
              <a:t>https://kubernetes.io/docs/concepts/scheduling-eviction/node-pressure-eviction/</a:t>
            </a:r>
          </a:p>
          <a:p>
            <a:pPr/>
            <a:r>
              <a:rPr lang="en-US" dirty="0"/>
              <a:t>https://slurm.schedmd.com/documentation.html</a:t>
            </a:r>
          </a:p>
          <a:p>
            <a:pPr/>
            <a:r>
              <a:rPr lang="en-US" dirty="0"/>
              <a:t>https://prometheus.io/docs/introduction/overview/</a:t>
            </a:r>
          </a:p>
          <a:p>
            <a:pPr/>
            <a:r>
              <a:rPr lang="en-US" dirty="0"/>
              <a:t>https://beszel.dev/guide/rest-api</a:t>
            </a:r>
          </a:p>
          <a:p>
            <a:pPr/>
            <a:r>
              <a:rPr lang="en-US" dirty="0"/>
              <a:t>https://www.zabbix.com/integrations/docker</a:t>
            </a:r>
          </a:p>
          <a:p>
            <a:pPr/>
            <a:r>
              <a:rPr lang="en-US" dirty="0"/>
              <a:t>https://learn.netdata.cloud/docs/collecting-metrics/collectors/containers-and-vms/containers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erver-resource-research_strategy-firs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erver-resource-research_strategy-firs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ing"/>
          <p:cNvGrpSpPr/>
          <p:nvPr/>
        </p:nvGrpSpPr>
        <p:grpSpPr>
          <a:xfrm>
            <a:off x="590550" y="797242"/>
            <a:ext cx="6307836" cy="2450593"/>
            <a:chOff x="590550" y="797242"/>
            <a:chExt cx="6307836" cy="2450593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797242"/>
              <a:ext cx="16992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技术调研 / 方案选型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1634490"/>
              <a:ext cx="481736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服务器资源保护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2631758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现成策略优先，按缺口补充开发</a:t>
              </a:r>
            </a:p>
          </p:txBody>
        </p:sp>
      </p:grpSp>
      <p:sp>
        <p:nvSpPr>
          <p:cNvPr id="6" name="Line 6"/>
          <p:cNvSpPr/>
          <p:nvPr/>
        </p:nvSpPr>
        <p:spPr>
          <a:xfrm>
            <a:off x="609600" y="36385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7" name="accent"/>
          <p:cNvSpPr/>
          <p:nvPr/>
        </p:nvSpPr>
        <p:spPr>
          <a:xfrm>
            <a:off x="609600" y="3619500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1" name="route"/>
          <p:cNvGrpSpPr/>
          <p:nvPr/>
        </p:nvGrpSpPr>
        <p:grpSpPr>
          <a:xfrm>
            <a:off x="598932" y="4126230"/>
            <a:ext cx="6891528" cy="1583245"/>
            <a:chOff x="598932" y="4126230"/>
            <a:chExt cx="6891528" cy="1583245"/>
          </a:xfrm>
        </p:grpSpPr>
        <p:sp>
          <p:nvSpPr>
            <p:cNvPr id="8" name="TextBox 8"/>
            <p:cNvSpPr txBox="1"/>
            <p:nvPr/>
          </p:nvSpPr>
          <p:spPr>
            <a:xfrm>
              <a:off x="598932" y="4126230"/>
              <a:ext cx="55062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先比较：内存、CPU、磁盘与跨资源治理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8932" y="4688205"/>
              <a:ext cx="68915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再判断：配置现成方案，还是补充观测、定位与处置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2742" y="5445442"/>
              <a:ext cx="5883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面向现有 Docker 服务器的候选方案研究；尚未部署或完成故障验证。</a:t>
              </a:r>
            </a:p>
          </p:txBody>
        </p:sp>
      </p:grpSp>
      <p:grpSp>
        <p:nvGrpSpPr>
          <p:cNvPr id="14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12" name="TextBox 12"/>
            <p:cNvSpPr txBox="1"/>
            <p:nvPr/>
          </p:nvSpPr>
          <p:spPr>
            <a:xfrm>
              <a:off x="603504" y="6480810"/>
              <a:ext cx="33974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服务器资源保护 · 技术调研　｜　策略优先版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463868"/>
            <a:ext cx="4512564" cy="1117092"/>
            <a:chOff x="593598" y="463868"/>
            <a:chExt cx="4512564" cy="111709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任务背景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45125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保护目标与待确认条件</a:t>
              </a:r>
            </a:p>
          </p:txBody>
        </p:sp>
      </p:grpSp>
      <p:sp>
        <p:nvSpPr>
          <p:cNvPr id="5" name="Line 5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6" name="title-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0" name="problem"/>
          <p:cNvGrpSpPr/>
          <p:nvPr/>
        </p:nvGrpSpPr>
        <p:grpSpPr>
          <a:xfrm>
            <a:off x="495300" y="2047875"/>
            <a:ext cx="7978140" cy="1095375"/>
            <a:chOff x="495300" y="2047875"/>
            <a:chExt cx="7978140" cy="1095375"/>
          </a:xfrm>
        </p:grpSpPr>
        <p:sp>
          <p:nvSpPr>
            <p:cNvPr id="7" name="Rectangle 7"/>
            <p:cNvSpPr/>
            <p:nvPr/>
          </p:nvSpPr>
          <p:spPr>
            <a:xfrm>
              <a:off x="495300" y="2047875"/>
              <a:ext cx="57150" cy="10953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0456" y="2139315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任务起点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7408" y="2607945"/>
              <a:ext cx="78760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公司服务器曾出现资源占用过高、影响生产的情况。</a:t>
              </a:r>
            </a:p>
          </p:txBody>
        </p:sp>
      </p:grpSp>
      <p:sp>
        <p:nvSpPr>
          <p:cNvPr id="11" name="Line 11"/>
          <p:cNvSpPr/>
          <p:nvPr/>
        </p:nvSpPr>
        <p:spPr>
          <a:xfrm>
            <a:off x="609600" y="3371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grpSp>
        <p:nvGrpSpPr>
          <p:cNvPr id="17" name="goal"/>
          <p:cNvGrpSpPr/>
          <p:nvPr/>
        </p:nvGrpSpPr>
        <p:grpSpPr>
          <a:xfrm>
            <a:off x="495300" y="3743325"/>
            <a:ext cx="7636764" cy="1994726"/>
            <a:chOff x="495300" y="3743325"/>
            <a:chExt cx="7636764" cy="1994726"/>
          </a:xfrm>
        </p:grpSpPr>
        <p:sp>
          <p:nvSpPr>
            <p:cNvPr id="12" name="Rectangle 12"/>
            <p:cNvSpPr/>
            <p:nvPr/>
          </p:nvSpPr>
          <p:spPr>
            <a:xfrm>
              <a:off x="495300" y="3743325"/>
              <a:ext cx="57150" cy="194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0456" y="3815715"/>
              <a:ext cx="2322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需要达到的保护目标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7408" y="4284345"/>
              <a:ext cx="75346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自动监测服务器资源占用，及时发现并处理危机。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8932" y="4897755"/>
              <a:ext cx="71902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必要时重启服务或终止进程，尽量避免宕机影响生产。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2742" y="5474018"/>
              <a:ext cx="6350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先核对故障证据、业务优先级与允许动作；再判断现成策略是否满足需求。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603504" y="6480810"/>
              <a:ext cx="33974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服务器资源保护 · 技术调研　｜　策略优先版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463868"/>
            <a:ext cx="4960620" cy="1117092"/>
            <a:chOff x="593598" y="463868"/>
            <a:chExt cx="4960620" cy="111709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24673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第一部分 / 现成资源保护方案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49606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现成策略：先按资源选择</a:t>
              </a:r>
            </a:p>
          </p:txBody>
        </p:sp>
      </p:grpSp>
      <p:sp>
        <p:nvSpPr>
          <p:cNvPr id="5" name="Line 5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6" name="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" name="intro"/>
          <p:cNvGrpSpPr/>
          <p:nvPr/>
        </p:nvGrpSpPr>
        <p:grpSpPr>
          <a:xfrm>
            <a:off x="600456" y="1777365"/>
            <a:ext cx="8211312" cy="352044"/>
            <a:chOff x="600456" y="1777365"/>
            <a:chExt cx="8211312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600456" y="1777365"/>
              <a:ext cx="82113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配置后自动执行的策略，既包括应急处置，也包括持续限制与自动清理。</a:t>
              </a:r>
            </a:p>
          </p:txBody>
        </p:sp>
      </p:grpSp>
      <p:grpSp>
        <p:nvGrpSpPr>
          <p:cNvPr id="32" name="comparison"/>
          <p:cNvGrpSpPr/>
          <p:nvPr/>
        </p:nvGrpSpPr>
        <p:grpSpPr>
          <a:xfrm>
            <a:off x="609600" y="2247900"/>
            <a:ext cx="10972800" cy="3224784"/>
            <a:chOff x="609600" y="2247900"/>
            <a:chExt cx="10972800" cy="3224784"/>
          </a:xfrm>
        </p:grpSpPr>
        <p:sp>
          <p:nvSpPr>
            <p:cNvPr id="9" name="Rectangle 9"/>
            <p:cNvSpPr/>
            <p:nvPr/>
          </p:nvSpPr>
          <p:spPr>
            <a:xfrm>
              <a:off x="609600" y="2247900"/>
              <a:ext cx="109728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2856" y="2348865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24606" y="2348865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现成方案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5606" y="2348865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自动完成什么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2856" y="285369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内存压力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324606" y="2853690"/>
              <a:ext cx="26919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systemd-oomd / earlyoom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5606" y="2853690"/>
              <a:ext cx="2578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检测、选择对象、终止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" y="3267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2856" y="3425190"/>
              <a:ext cx="22028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CPU / IO / 任务数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24606" y="3425190"/>
              <a:ext cx="29288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/ systemd 资源限制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5606" y="3425190"/>
              <a:ext cx="30906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持续限额、分配或阻止增长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09600" y="38385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2856" y="399669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磁盘空间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24606" y="3996690"/>
              <a:ext cx="32038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日志驱动 / journald / logrotate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15606" y="3996690"/>
              <a:ext cx="2834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按范围轮转、保留与清理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09600" y="4410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2856" y="4568190"/>
              <a:ext cx="2066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固定服务多种异常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24606" y="4568190"/>
              <a:ext cx="6710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Monit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15606" y="4568190"/>
              <a:ext cx="30906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条件检查、执行预配置恢复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9600" y="49815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2856" y="5120640"/>
              <a:ext cx="20096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多机 / 多用户争抢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324606" y="5120640"/>
              <a:ext cx="20661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Kubernetes / Slurm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15606" y="5120640"/>
              <a:ext cx="2834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统一管理下的驱逐或调度</a:t>
              </a:r>
            </a:p>
          </p:txBody>
        </p:sp>
      </p:grpSp>
      <p:grpSp>
        <p:nvGrpSpPr>
          <p:cNvPr id="35" name="boundary"/>
          <p:cNvGrpSpPr/>
          <p:nvPr/>
        </p:nvGrpSpPr>
        <p:grpSpPr>
          <a:xfrm>
            <a:off x="602742" y="5769292"/>
            <a:ext cx="7118604" cy="559309"/>
            <a:chOff x="602742" y="5769292"/>
            <a:chExt cx="7118604" cy="559309"/>
          </a:xfrm>
        </p:grpSpPr>
        <p:sp>
          <p:nvSpPr>
            <p:cNvPr id="33" name="TextBox 33"/>
            <p:cNvSpPr txBox="1"/>
            <p:nvPr/>
          </p:nvSpPr>
          <p:spPr>
            <a:xfrm>
              <a:off x="602742" y="5769292"/>
              <a:ext cx="71186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共同评价：管理对象、触发条件、选择规则、执行动作、配置成本，以及覆盖边界。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2742" y="6064568"/>
              <a:ext cx="6328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“完整”只针对明确的保护范围；现成策略也需要业务配置与目标环境验证。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36" name="TextBox 36"/>
            <p:cNvSpPr txBox="1"/>
            <p:nvPr/>
          </p:nvSpPr>
          <p:spPr>
            <a:xfrm>
              <a:off x="603504" y="6480810"/>
              <a:ext cx="32267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服务器资源保护 · 技术调研　｜　现成策略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463868"/>
            <a:ext cx="7835616" cy="1117092"/>
            <a:chOff x="593598" y="463868"/>
            <a:chExt cx="7835616" cy="111709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2083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内存 / 完整应急处置案例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78356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内存应急：systemd-oomd 如何自动处置</a:t>
              </a:r>
            </a:p>
          </p:txBody>
        </p:sp>
      </p:grpSp>
      <p:sp>
        <p:nvSpPr>
          <p:cNvPr id="5" name="Line 5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6" name="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" name="intro"/>
          <p:cNvGrpSpPr/>
          <p:nvPr/>
        </p:nvGrpSpPr>
        <p:grpSpPr>
          <a:xfrm>
            <a:off x="600456" y="1815465"/>
            <a:ext cx="8979408" cy="352044"/>
            <a:chOff x="600456" y="1815465"/>
            <a:chExt cx="8979408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600456" y="1815465"/>
              <a:ext cx="89794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本机自行检测、选择与终止；不需要先接入监控平台，也无需重写同一套逻辑。</a:t>
              </a:r>
            </a:p>
          </p:txBody>
        </p:sp>
      </p:grpSp>
      <p:grpSp>
        <p:nvGrpSpPr>
          <p:cNvPr id="12" name="trigger"/>
          <p:cNvGrpSpPr/>
          <p:nvPr/>
        </p:nvGrpSpPr>
        <p:grpSpPr>
          <a:xfrm>
            <a:off x="598932" y="2402205"/>
            <a:ext cx="9269004" cy="735520"/>
            <a:chOff x="598932" y="2402205"/>
            <a:chExt cx="9269004" cy="735520"/>
          </a:xfrm>
        </p:grpSpPr>
        <p:sp>
          <p:nvSpPr>
            <p:cNvPr id="9" name="TextBox 9"/>
            <p:cNvSpPr txBox="1"/>
            <p:nvPr/>
          </p:nvSpPr>
          <p:spPr>
            <a:xfrm>
              <a:off x="598932" y="2402205"/>
              <a:ext cx="12161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何时触发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62731" y="2434590"/>
              <a:ext cx="6305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内存压力超过阈值并持续指定时间；或满足 swap 条件。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65017" y="2873692"/>
              <a:ext cx="52096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PSI 衡量任务因内存等待的时间比例，不是内存占用百分比。</a:t>
              </a:r>
            </a:p>
          </p:txBody>
        </p:sp>
      </p:grpSp>
      <p:grpSp>
        <p:nvGrpSpPr>
          <p:cNvPr id="16" name="selection"/>
          <p:cNvGrpSpPr/>
          <p:nvPr/>
        </p:nvGrpSpPr>
        <p:grpSpPr>
          <a:xfrm>
            <a:off x="598932" y="3430905"/>
            <a:ext cx="8941693" cy="735520"/>
            <a:chOff x="598932" y="3430905"/>
            <a:chExt cx="8941693" cy="735520"/>
          </a:xfrm>
        </p:grpSpPr>
        <p:sp>
          <p:nvSpPr>
            <p:cNvPr id="13" name="TextBox 13"/>
            <p:cNvSpPr txBox="1"/>
            <p:nvPr/>
          </p:nvSpPr>
          <p:spPr>
            <a:xfrm>
              <a:off x="598932" y="3430905"/>
              <a:ext cx="9174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62731" y="3463290"/>
              <a:ext cx="59778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从监控范围内的合格子 cgroup 中，按内置规则选择。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65017" y="3902392"/>
              <a:ext cx="54062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压力路径参考回收活动；可配置 avoid / omit，作用范围需核验。</a:t>
              </a:r>
            </a:p>
          </p:txBody>
        </p:sp>
      </p:grpSp>
      <p:grpSp>
        <p:nvGrpSpPr>
          <p:cNvPr id="20" name="action"/>
          <p:cNvGrpSpPr/>
          <p:nvPr/>
        </p:nvGrpSpPr>
        <p:grpSpPr>
          <a:xfrm>
            <a:off x="598932" y="4459605"/>
            <a:ext cx="8621181" cy="735520"/>
            <a:chOff x="598932" y="4459605"/>
            <a:chExt cx="8621181" cy="735520"/>
          </a:xfrm>
        </p:grpSpPr>
        <p:sp>
          <p:nvSpPr>
            <p:cNvPr id="17" name="TextBox 17"/>
            <p:cNvSpPr txBox="1"/>
            <p:nvPr/>
          </p:nvSpPr>
          <p:spPr>
            <a:xfrm>
              <a:off x="598932" y="4459605"/>
              <a:ext cx="12161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如何执行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62731" y="4491990"/>
              <a:ext cx="56573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对选中组的进程发送 SIGKILL，尽快释放内存。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65017" y="4931092"/>
              <a:ext cx="5198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这是强制终止；不提供保存进度、优雅退出或业务恢复验证。</a:t>
              </a:r>
            </a:p>
          </p:txBody>
        </p:sp>
      </p:grpSp>
      <p:grpSp>
        <p:nvGrpSpPr>
          <p:cNvPr id="24" name="boundary"/>
          <p:cNvGrpSpPr/>
          <p:nvPr/>
        </p:nvGrpSpPr>
        <p:grpSpPr>
          <a:xfrm>
            <a:off x="609600" y="5543550"/>
            <a:ext cx="10972800" cy="771525"/>
            <a:chOff x="609600" y="5543550"/>
            <a:chExt cx="10972800" cy="771525"/>
          </a:xfrm>
        </p:grpSpPr>
        <p:sp>
          <p:nvSpPr>
            <p:cNvPr id="21" name="Rectangle 21"/>
            <p:cNvSpPr/>
            <p:nvPr/>
          </p:nvSpPr>
          <p:spPr>
            <a:xfrm>
              <a:off x="609600" y="5543550"/>
              <a:ext cx="10972800" cy="7715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2856" y="5644515"/>
              <a:ext cx="56509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适用前提：允许牺牲部分负载，以缓解内存危机。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5142" y="6026468"/>
              <a:ext cx="7195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已核对 systemd 249 手册；仍需验证 Docker 分组、保护对象、swap 与自动重启行为。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603504" y="6480810"/>
              <a:ext cx="48951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来源：Ubuntu Jammy systemd-oomd / oomd.conf　｜　链接见备注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463868"/>
            <a:ext cx="6304788" cy="1117092"/>
            <a:chOff x="593598" y="463868"/>
            <a:chExt cx="6304788" cy="111709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16992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内存 / 同一目标比较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内存保护：三种现成策略怎么选</a:t>
              </a:r>
            </a:p>
          </p:txBody>
        </p:sp>
      </p:grpSp>
      <p:sp>
        <p:nvSpPr>
          <p:cNvPr id="5" name="Line 5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6" name="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" name="intro"/>
          <p:cNvGrpSpPr/>
          <p:nvPr/>
        </p:nvGrpSpPr>
        <p:grpSpPr>
          <a:xfrm>
            <a:off x="602742" y="1835468"/>
            <a:ext cx="6734556" cy="264033"/>
            <a:chOff x="602742" y="1835468"/>
            <a:chExt cx="673455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602742" y="1835468"/>
              <a:ext cx="6734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共同目标：在内存危机中自动选择可牺牲对象；重点比较管理粒度和策略适配。</a:t>
              </a:r>
            </a:p>
          </p:txBody>
        </p:sp>
      </p:grpSp>
      <p:grpSp>
        <p:nvGrpSpPr>
          <p:cNvPr id="28" name="comparison"/>
          <p:cNvGrpSpPr/>
          <p:nvPr/>
        </p:nvGrpSpPr>
        <p:grpSpPr>
          <a:xfrm>
            <a:off x="609600" y="2276475"/>
            <a:ext cx="10972800" cy="2986659"/>
            <a:chOff x="609600" y="2276475"/>
            <a:chExt cx="10972800" cy="2986659"/>
          </a:xfrm>
        </p:grpSpPr>
        <p:sp>
          <p:nvSpPr>
            <p:cNvPr id="9" name="Rectangle 9"/>
            <p:cNvSpPr/>
            <p:nvPr/>
          </p:nvSpPr>
          <p:spPr>
            <a:xfrm>
              <a:off x="609600" y="2276475"/>
              <a:ext cx="109728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2856" y="2377440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43606" y="2377440"/>
              <a:ext cx="1298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触发与对象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105906" y="2377440"/>
              <a:ext cx="1298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选择与执行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249156" y="237744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适用方向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2856" y="2872740"/>
              <a:ext cx="15971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systemd-oomd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43606" y="2872740"/>
              <a:ext cx="1510680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PSI / swap 条件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管理 cgroup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05906" y="2872740"/>
              <a:ext cx="138988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内置选择规则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整组强制终止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249156" y="2872740"/>
              <a:ext cx="161848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适合组级保护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先核验容器层级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" y="3600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2856" y="3739515"/>
              <a:ext cx="10420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earlyoom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43606" y="3739515"/>
              <a:ext cx="1580312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可用内存 / swap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管理进程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05906" y="3739515"/>
              <a:ext cx="1764243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oom_score 与偏好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发送终止信号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49156" y="3739515"/>
              <a:ext cx="161848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进程级保护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需核对业务映射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44672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2856" y="4606290"/>
              <a:ext cx="12958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Meta oomd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43606" y="4606290"/>
              <a:ext cx="161848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PSI / cgroup v2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规则与插件配置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05906" y="4606290"/>
              <a:ext cx="161848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可配置保护规则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默认以终止为主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49156" y="4606290"/>
              <a:ext cx="161848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策略需更灵活时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评估适配与维护</a:t>
              </a:r>
            </a:p>
          </p:txBody>
        </p:sp>
      </p:grpSp>
      <p:grpSp>
        <p:nvGrpSpPr>
          <p:cNvPr id="31" name="recommend"/>
          <p:cNvGrpSpPr/>
          <p:nvPr/>
        </p:nvGrpSpPr>
        <p:grpSpPr>
          <a:xfrm>
            <a:off x="600456" y="5673090"/>
            <a:ext cx="8054774" cy="645985"/>
            <a:chOff x="600456" y="5673090"/>
            <a:chExt cx="8054774" cy="645985"/>
          </a:xfrm>
        </p:grpSpPr>
        <p:sp>
          <p:nvSpPr>
            <p:cNvPr id="29" name="TextBox 29"/>
            <p:cNvSpPr txBox="1"/>
            <p:nvPr/>
          </p:nvSpPr>
          <p:spPr>
            <a:xfrm>
              <a:off x="600456" y="5673090"/>
              <a:ext cx="80547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当前先评估 systemd-oomd 是否满足组级保护；不满足再比较替代策略。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2742" y="6055042"/>
              <a:ext cx="78867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都需要确认允许终止的范围；避免偏好不等于绝对保护，不应让多个终止策略无协调地运行。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603504" y="6480810"/>
              <a:ext cx="49210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来源：systemd 249 手册、earlyoom、Meta oomd　｜　链接见备注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463868"/>
            <a:ext cx="7881862" cy="1117092"/>
            <a:chOff x="593598" y="463868"/>
            <a:chExt cx="7881862" cy="111709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28626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CPU / 磁盘 IO / 进程与线程数量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78818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CPU、磁盘 IO 与进程数量：持续限制</a:t>
              </a:r>
            </a:p>
          </p:txBody>
        </p:sp>
      </p:grpSp>
      <p:sp>
        <p:nvSpPr>
          <p:cNvPr id="5" name="Line 5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6" name="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" name="intro"/>
          <p:cNvGrpSpPr/>
          <p:nvPr/>
        </p:nvGrpSpPr>
        <p:grpSpPr>
          <a:xfrm>
            <a:off x="600456" y="1815465"/>
            <a:ext cx="8723376" cy="352044"/>
            <a:chOff x="600456" y="1815465"/>
            <a:chExt cx="8723376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600456" y="1815465"/>
              <a:ext cx="87233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提前声明每组负载的资源预算，由内核持续执行，不需要自写循环下发限额。</a:t>
              </a:r>
            </a:p>
          </p:txBody>
        </p:sp>
      </p:grpSp>
      <p:grpSp>
        <p:nvGrpSpPr>
          <p:cNvPr id="24" name="comparison"/>
          <p:cNvGrpSpPr/>
          <p:nvPr/>
        </p:nvGrpSpPr>
        <p:grpSpPr>
          <a:xfrm>
            <a:off x="609600" y="2333625"/>
            <a:ext cx="10972800" cy="2796159"/>
            <a:chOff x="609600" y="2333625"/>
            <a:chExt cx="10972800" cy="2796159"/>
          </a:xfrm>
        </p:grpSpPr>
        <p:sp>
          <p:nvSpPr>
            <p:cNvPr id="9" name="Rectangle 9"/>
            <p:cNvSpPr/>
            <p:nvPr/>
          </p:nvSpPr>
          <p:spPr>
            <a:xfrm>
              <a:off x="609600" y="2333625"/>
              <a:ext cx="109728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2856" y="2434590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53106" y="243459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现成配置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72706" y="2434590"/>
              <a:ext cx="18105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自动执行与边界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2856" y="2948940"/>
              <a:ext cx="6572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53106" y="2948940"/>
              <a:ext cx="3123453" cy="6663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CPU 限额 / 权重</a:t>
              </a:r>
              <a:br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systemd CPUQuota / CPUWeight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72706" y="2948940"/>
              <a:ext cx="3549106" cy="6663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限制 CPU 时间，竞争时按权重分配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高利用率本身不代表必须停止任务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" y="37052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2856" y="3863340"/>
              <a:ext cx="9708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磁盘 IO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53106" y="3863340"/>
              <a:ext cx="2767980" cy="6663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systemd IO 带宽 / IOPS 限制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底层由 cgroup 控制器执行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72706" y="3863340"/>
              <a:ext cx="3218688" cy="6663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按设备限制任务的读写吞吐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不清理文件，也不增加可用空间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09600" y="46196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2856" y="4777740"/>
              <a:ext cx="12415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进程 / 线程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53106" y="4777740"/>
              <a:ext cx="31832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pids-limit / TasksMax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72706" y="4777740"/>
              <a:ext cx="33467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达到上限后阻止继续创建任务</a:t>
              </a:r>
            </a:p>
          </p:txBody>
        </p:sp>
      </p:grpSp>
      <p:grpSp>
        <p:nvGrpSpPr>
          <p:cNvPr id="27" name="config"/>
          <p:cNvGrpSpPr/>
          <p:nvPr/>
        </p:nvGrpSpPr>
        <p:grpSpPr>
          <a:xfrm>
            <a:off x="600456" y="5549265"/>
            <a:ext cx="9235440" cy="665036"/>
            <a:chOff x="600456" y="5549265"/>
            <a:chExt cx="9235440" cy="665036"/>
          </a:xfrm>
        </p:grpSpPr>
        <p:sp>
          <p:nvSpPr>
            <p:cNvPr id="25" name="TextBox 25"/>
            <p:cNvSpPr txBox="1"/>
            <p:nvPr/>
          </p:nvSpPr>
          <p:spPr>
            <a:xfrm>
              <a:off x="600456" y="5549265"/>
              <a:ext cx="92354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需要配置：管理对象、资源预算和优先级；需要验证：业务性能与实际生效范围。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2742" y="5950268"/>
              <a:ext cx="77160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Docker 管理的容器优先通过其配置施加限制；systemd 与容器管理器的 cgroup 归属需协调。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603504" y="6480810"/>
              <a:ext cx="48912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来源：Docker 资源限制、systemd 249 资源控制　｜　链接见备注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463868"/>
            <a:ext cx="6304788" cy="1117092"/>
            <a:chOff x="593598" y="463868"/>
            <a:chExt cx="6304788" cy="111709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22753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磁盘空间 / 自动保留与清理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磁盘空间：按数据归属自动治理</a:t>
              </a:r>
            </a:p>
          </p:txBody>
        </p:sp>
      </p:grpSp>
      <p:sp>
        <p:nvSpPr>
          <p:cNvPr id="5" name="Line 5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6" name="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" name="intro"/>
          <p:cNvGrpSpPr/>
          <p:nvPr/>
        </p:nvGrpSpPr>
        <p:grpSpPr>
          <a:xfrm>
            <a:off x="600456" y="1815465"/>
            <a:ext cx="8467344" cy="352044"/>
            <a:chOff x="600456" y="1815465"/>
            <a:chExt cx="8467344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600456" y="1815465"/>
              <a:ext cx="8467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日志有现成的轮转与保留策略；任意业务文件能否删除，仍需要明确规则。</a:t>
              </a:r>
            </a:p>
          </p:txBody>
        </p:sp>
      </p:grpSp>
      <p:grpSp>
        <p:nvGrpSpPr>
          <p:cNvPr id="27" name="comparison"/>
          <p:cNvGrpSpPr/>
          <p:nvPr/>
        </p:nvGrpSpPr>
        <p:grpSpPr>
          <a:xfrm>
            <a:off x="609600" y="2324100"/>
            <a:ext cx="10972800" cy="2832925"/>
            <a:chOff x="609600" y="2324100"/>
            <a:chExt cx="10972800" cy="2832925"/>
          </a:xfrm>
        </p:grpSpPr>
        <p:sp>
          <p:nvSpPr>
            <p:cNvPr id="9" name="Rectangle 9"/>
            <p:cNvSpPr/>
            <p:nvPr/>
          </p:nvSpPr>
          <p:spPr>
            <a:xfrm>
              <a:off x="609600" y="2324100"/>
              <a:ext cx="109728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2856" y="2425065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数据范围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29356" y="2425065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现成方案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63181" y="2425065"/>
              <a:ext cx="1298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触发与动作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2856" y="2939415"/>
              <a:ext cx="2066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容器标准输出日志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29356" y="2939415"/>
              <a:ext cx="24482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local 日志驱动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63181" y="2939415"/>
              <a:ext cx="33467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按文件大小轮转，按数量保留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31642" y="3273742"/>
              <a:ext cx="3278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修改默认配置不会自动应用到既有容器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3600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2856" y="3749040"/>
              <a:ext cx="18956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 journal 日志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29356" y="3749040"/>
              <a:ext cx="8714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journald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63181" y="3749040"/>
              <a:ext cx="35458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按空间 / 保留规则回收归档日志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31642" y="4083368"/>
              <a:ext cx="42540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仅管理 journal；不能保证回收其他业务占用的空间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4410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2856" y="4558665"/>
              <a:ext cx="2322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明确路径的应用日志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29356" y="4558665"/>
              <a:ext cx="9282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logrotate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63181" y="4558665"/>
              <a:ext cx="32898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定时检查，按周期 / 大小轮转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31642" y="4892992"/>
              <a:ext cx="5774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配置路径、保留数量和应用重新打开日志的方式；检查频率影响时效</a:t>
              </a:r>
            </a:p>
          </p:txBody>
        </p:sp>
      </p:grpSp>
      <p:grpSp>
        <p:nvGrpSpPr>
          <p:cNvPr id="30" name="boundary"/>
          <p:cNvGrpSpPr/>
          <p:nvPr/>
        </p:nvGrpSpPr>
        <p:grpSpPr>
          <a:xfrm>
            <a:off x="600456" y="5673090"/>
            <a:ext cx="7997625" cy="645985"/>
            <a:chOff x="600456" y="5673090"/>
            <a:chExt cx="7997625" cy="645985"/>
          </a:xfrm>
        </p:grpSpPr>
        <p:sp>
          <p:nvSpPr>
            <p:cNvPr id="28" name="TextBox 28"/>
            <p:cNvSpPr txBox="1"/>
            <p:nvPr/>
          </p:nvSpPr>
          <p:spPr>
            <a:xfrm>
              <a:off x="600456" y="5673090"/>
              <a:ext cx="79552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尚需业务规则：数据集、模型文件、数据库及持久化卷的保留与删除。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2742" y="6055042"/>
              <a:ext cx="79953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先找清空间来源；停止容器不一定释放空间。不要把外部轮转工具直接用于 Docker 私有日志。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603504" y="6480810"/>
              <a:ext cx="53895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来源：Docker local、Ubuntu Jammy journald / logrotate　｜　链接见备注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463868"/>
            <a:ext cx="5856732" cy="1117092"/>
            <a:chOff x="593598" y="463868"/>
            <a:chExt cx="5856732" cy="111709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20833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跨资源 / 按管理对象选择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585673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跨资源方案：按工作负载选择</a:t>
              </a:r>
            </a:p>
          </p:txBody>
        </p:sp>
      </p:grpSp>
      <p:sp>
        <p:nvSpPr>
          <p:cNvPr id="5" name="Line 5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6" name="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" name="intro"/>
          <p:cNvGrpSpPr/>
          <p:nvPr/>
        </p:nvGrpSpPr>
        <p:grpSpPr>
          <a:xfrm>
            <a:off x="600456" y="1815465"/>
            <a:ext cx="8467344" cy="352044"/>
            <a:chOff x="600456" y="1815465"/>
            <a:chExt cx="8467344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600456" y="1815465"/>
              <a:ext cx="8467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固定服务恢复、容器编排、离线任务调度，分别已有相应的策略执行体系。</a:t>
              </a:r>
            </a:p>
          </p:txBody>
        </p:sp>
      </p:grpSp>
      <p:grpSp>
        <p:nvGrpSpPr>
          <p:cNvPr id="27" name="comparison"/>
          <p:cNvGrpSpPr/>
          <p:nvPr/>
        </p:nvGrpSpPr>
        <p:grpSpPr>
          <a:xfrm>
            <a:off x="609600" y="2333625"/>
            <a:ext cx="10972800" cy="3120009"/>
            <a:chOff x="609600" y="2333625"/>
            <a:chExt cx="10972800" cy="3120009"/>
          </a:xfrm>
        </p:grpSpPr>
        <p:sp>
          <p:nvSpPr>
            <p:cNvPr id="9" name="Rectangle 9"/>
            <p:cNvSpPr/>
            <p:nvPr/>
          </p:nvSpPr>
          <p:spPr>
            <a:xfrm>
              <a:off x="609600" y="2333625"/>
              <a:ext cx="109728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2856" y="2434590"/>
              <a:ext cx="12415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方案 / 对象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86531" y="243459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已有策略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20406" y="2434590"/>
              <a:ext cx="18105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采用前提与边界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2856" y="2958465"/>
              <a:ext cx="715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Monit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142" y="3321368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固定服务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86531" y="2958465"/>
              <a:ext cx="2710693" cy="6663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 / 健康条件持续满足时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执行已配置的停止或重启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20406" y="2958465"/>
              <a:ext cx="2304288" cy="6663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明确对象、条件和动作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动态容器管理需适配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37052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2856" y="3872865"/>
              <a:ext cx="13111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Kubernetes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5142" y="4235768"/>
              <a:ext cx="8779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Pod / 节点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86531" y="3872865"/>
              <a:ext cx="2761488" cy="6663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内存、磁盘等压力触发回收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或驱逐；控制器按声明补建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20406" y="3872865"/>
              <a:ext cx="2806156" cy="6663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工作负载纳入 K8s 管理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CPU 高占用非同类驱逐信号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46196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2856" y="4787265"/>
              <a:ext cx="730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Slurm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5142" y="5150168"/>
              <a:ext cx="21229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CPU / 内存 / GPU 作业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86531" y="4787265"/>
              <a:ext cx="2532888" cy="6663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申请、排队、分配与约束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按配置抢占低优先级任务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20406" y="4787265"/>
              <a:ext cx="2710830" cy="6663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作业通过调度器提交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暂停不等于释放内存 / GPU</a:t>
              </a:r>
            </a:p>
          </p:txBody>
        </p:sp>
      </p:grpSp>
      <p:grpSp>
        <p:nvGrpSpPr>
          <p:cNvPr id="30" name="selection"/>
          <p:cNvGrpSpPr/>
          <p:nvPr/>
        </p:nvGrpSpPr>
        <p:grpSpPr>
          <a:xfrm>
            <a:off x="600456" y="5758815"/>
            <a:ext cx="7955280" cy="569786"/>
            <a:chOff x="600456" y="5758815"/>
            <a:chExt cx="7955280" cy="569786"/>
          </a:xfrm>
        </p:grpSpPr>
        <p:sp>
          <p:nvSpPr>
            <p:cNvPr id="28" name="TextBox 28"/>
            <p:cNvSpPr txBox="1"/>
            <p:nvPr/>
          </p:nvSpPr>
          <p:spPr>
            <a:xfrm>
              <a:off x="600456" y="5758815"/>
              <a:ext cx="79552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当前先评估本机策略；确有统一调度需求时，再比较迁移与管理成本。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2742" y="6064568"/>
              <a:ext cx="74192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这些系统不会安装后自动接管所有现有 Docker 任务，不能直接当作即插即用的替代品。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603504" y="6480810"/>
              <a:ext cx="5348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来源：Monit、Kubernetes 节点压力驱逐、Slurm 文档　｜　链接见备注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463868"/>
            <a:ext cx="4960620" cy="1117092"/>
            <a:chOff x="593598" y="463868"/>
            <a:chExt cx="4960620" cy="111709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24673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选型决策 / 是否需要补充开发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49606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现成方案是否满足需求？</a:t>
              </a:r>
            </a:p>
          </p:txBody>
        </p:sp>
      </p:grpSp>
      <p:sp>
        <p:nvSpPr>
          <p:cNvPr id="5" name="Line 5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6" name="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9" name="criteria"/>
          <p:cNvGrpSpPr/>
          <p:nvPr/>
        </p:nvGrpSpPr>
        <p:grpSpPr>
          <a:xfrm>
            <a:off x="598932" y="1964055"/>
            <a:ext cx="7956804" cy="879729"/>
            <a:chOff x="598932" y="1964055"/>
            <a:chExt cx="7956804" cy="879729"/>
          </a:xfrm>
        </p:grpSpPr>
        <p:sp>
          <p:nvSpPr>
            <p:cNvPr id="7" name="TextBox 7"/>
            <p:cNvSpPr txBox="1"/>
            <p:nvPr/>
          </p:nvSpPr>
          <p:spPr>
            <a:xfrm>
              <a:off x="598932" y="1964055"/>
              <a:ext cx="15148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先核对四项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2491740"/>
              <a:ext cx="79552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管理对象匹配　　触发与选择合理　　动作业务可接受　　效果可验证</a:t>
              </a:r>
            </a:p>
          </p:txBody>
        </p:sp>
      </p:grpSp>
      <p:grpSp>
        <p:nvGrpSpPr>
          <p:cNvPr id="13" name="yes"/>
          <p:cNvGrpSpPr/>
          <p:nvPr/>
        </p:nvGrpSpPr>
        <p:grpSpPr>
          <a:xfrm>
            <a:off x="597408" y="3331845"/>
            <a:ext cx="3733800" cy="1407414"/>
            <a:chOff x="597408" y="3331845"/>
            <a:chExt cx="3733800" cy="1407414"/>
          </a:xfrm>
        </p:grpSpPr>
        <p:sp>
          <p:nvSpPr>
            <p:cNvPr id="10" name="TextBox 10"/>
            <p:cNvSpPr txBox="1"/>
            <p:nvPr/>
          </p:nvSpPr>
          <p:spPr>
            <a:xfrm>
              <a:off x="597408" y="3331845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满足需求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3891915"/>
              <a:ext cx="36027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配置现成策略，选择试点验证。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0456" y="4387215"/>
              <a:ext cx="3730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跳至第 21 页：讨论试点与验收。</a:t>
              </a:r>
            </a:p>
          </p:txBody>
        </p:sp>
      </p:grpSp>
      <p:grpSp>
        <p:nvGrpSpPr>
          <p:cNvPr id="17" name="gap"/>
          <p:cNvGrpSpPr/>
          <p:nvPr/>
        </p:nvGrpSpPr>
        <p:grpSpPr>
          <a:xfrm>
            <a:off x="6541008" y="3331845"/>
            <a:ext cx="4117848" cy="1407414"/>
            <a:chOff x="6541008" y="3331845"/>
            <a:chExt cx="4117848" cy="1407414"/>
          </a:xfrm>
        </p:grpSpPr>
        <p:sp>
          <p:nvSpPr>
            <p:cNvPr id="14" name="TextBox 14"/>
            <p:cNvSpPr txBox="1"/>
            <p:nvPr/>
          </p:nvSpPr>
          <p:spPr>
            <a:xfrm>
              <a:off x="6541008" y="3331845"/>
              <a:ext cx="20726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存在明确缺口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4056" y="3891915"/>
              <a:ext cx="41148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列出缺口，再选择需要补充的能力。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4056" y="4387215"/>
              <a:ext cx="39867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继续第 10—20 页：按需展开设计。</a:t>
              </a:r>
            </a:p>
          </p:txBody>
        </p:sp>
      </p:grpSp>
      <p:grpSp>
        <p:nvGrpSpPr>
          <p:cNvPr id="21" name="examples"/>
          <p:cNvGrpSpPr/>
          <p:nvPr/>
        </p:nvGrpSpPr>
        <p:grpSpPr>
          <a:xfrm>
            <a:off x="609600" y="5324475"/>
            <a:ext cx="10972800" cy="990600"/>
            <a:chOff x="609600" y="5324475"/>
            <a:chExt cx="10972800" cy="990600"/>
          </a:xfrm>
        </p:grpSpPr>
        <p:sp>
          <p:nvSpPr>
            <p:cNvPr id="18" name="Rectangle 18"/>
            <p:cNvSpPr/>
            <p:nvPr/>
          </p:nvSpPr>
          <p:spPr>
            <a:xfrm>
              <a:off x="609600" y="5324475"/>
              <a:ext cx="10972800" cy="990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2856" y="5444490"/>
              <a:ext cx="89794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可能的缺口：终止前保存进度、特殊业务优先级、跨资源判断、业务恢复验证。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5142" y="5902642"/>
              <a:ext cx="6734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这些是待确认需求，不能据此预先认定现成方案不够用，也不据此估算开发量。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603504" y="6480810"/>
              <a:ext cx="3056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服务器资源保护 · 技术调研　｜　决策点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463868"/>
            <a:ext cx="7648956" cy="1117092"/>
            <a:chOff x="593598" y="463868"/>
            <a:chExt cx="7648956" cy="111709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3235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第二部分 / 现成方案不足时的补充设计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76489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补充设计：观测、定位、处置如何协作</a:t>
              </a:r>
            </a:p>
          </p:txBody>
        </p:sp>
      </p:grpSp>
      <p:sp>
        <p:nvSpPr>
          <p:cNvPr id="5" name="Line 5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6" name="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" name="intro"/>
          <p:cNvGrpSpPr/>
          <p:nvPr/>
        </p:nvGrpSpPr>
        <p:grpSpPr>
          <a:xfrm>
            <a:off x="600456" y="1815465"/>
            <a:ext cx="7955280" cy="352044"/>
            <a:chOff x="600456" y="1815465"/>
            <a:chExt cx="7955280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600456" y="1815465"/>
              <a:ext cx="79552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只补已确认的缺口；三段之间传递结构化字段，不依赖自然语言理解。</a:t>
              </a:r>
            </a:p>
          </p:txBody>
        </p:sp>
      </p:grpSp>
      <p:grpSp>
        <p:nvGrpSpPr>
          <p:cNvPr id="12" name="observe"/>
          <p:cNvGrpSpPr/>
          <p:nvPr/>
        </p:nvGrpSpPr>
        <p:grpSpPr>
          <a:xfrm>
            <a:off x="598932" y="2468880"/>
            <a:ext cx="9600454" cy="725995"/>
            <a:chOff x="598932" y="2468880"/>
            <a:chExt cx="9600454" cy="725995"/>
          </a:xfrm>
        </p:grpSpPr>
        <p:sp>
          <p:nvSpPr>
            <p:cNvPr id="9" name="TextBox 9"/>
            <p:cNvSpPr txBox="1"/>
            <p:nvPr/>
          </p:nvSpPr>
          <p:spPr>
            <a:xfrm>
              <a:off x="598932" y="2468880"/>
              <a:ext cx="21122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观测：提供证据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86581" y="2501265"/>
              <a:ext cx="6312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 ID、当前用量、变化、压力、采集时间与有效性。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88867" y="2930842"/>
              <a:ext cx="52168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先复用平台或本机数据；“B 增长多”属于可计算的指标证据。</a:t>
              </a:r>
            </a:p>
          </p:txBody>
        </p:sp>
      </p:grpSp>
      <p:grpSp>
        <p:nvGrpSpPr>
          <p:cNvPr id="16" name="locate"/>
          <p:cNvGrpSpPr/>
          <p:nvPr/>
        </p:nvGrpSpPr>
        <p:grpSpPr>
          <a:xfrm>
            <a:off x="598932" y="3497580"/>
            <a:ext cx="9706737" cy="725995"/>
            <a:chOff x="598932" y="3497580"/>
            <a:chExt cx="9706737" cy="725995"/>
          </a:xfrm>
        </p:grpSpPr>
        <p:sp>
          <p:nvSpPr>
            <p:cNvPr id="13" name="TextBox 13"/>
            <p:cNvSpPr txBox="1"/>
            <p:nvPr/>
          </p:nvSpPr>
          <p:spPr>
            <a:xfrm>
              <a:off x="598932" y="3497580"/>
              <a:ext cx="21122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定位：选择候选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86581" y="3529965"/>
              <a:ext cx="64190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证据结合公司权限与规则，输出候选、依据和建议动作。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88867" y="3959542"/>
              <a:ext cx="5600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“B 符合处理规则”是决策；证据不足时补查，也允许返回无候选。</a:t>
              </a:r>
            </a:p>
          </p:txBody>
        </p:sp>
      </p:grpSp>
      <p:grpSp>
        <p:nvGrpSpPr>
          <p:cNvPr id="20" name="act"/>
          <p:cNvGrpSpPr/>
          <p:nvPr/>
        </p:nvGrpSpPr>
        <p:grpSpPr>
          <a:xfrm>
            <a:off x="598932" y="4526280"/>
            <a:ext cx="9706737" cy="725995"/>
            <a:chOff x="598932" y="4526280"/>
            <a:chExt cx="9706737" cy="725995"/>
          </a:xfrm>
        </p:grpSpPr>
        <p:sp>
          <p:nvSpPr>
            <p:cNvPr id="17" name="TextBox 17"/>
            <p:cNvSpPr txBox="1"/>
            <p:nvPr/>
          </p:nvSpPr>
          <p:spPr>
            <a:xfrm>
              <a:off x="598932" y="4526280"/>
              <a:ext cx="24109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处置：执行并验证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86581" y="4558665"/>
              <a:ext cx="64190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执行前复核，调用动作接口，输出执行与恢复检查结果。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888867" y="4988242"/>
              <a:ext cx="50063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命令成功不等于恢复；本机当前状态与关键业务均需确认。</a:t>
              </a:r>
            </a:p>
          </p:txBody>
        </p:sp>
      </p:grpSp>
      <p:grpSp>
        <p:nvGrpSpPr>
          <p:cNvPr id="23" name="boundary"/>
          <p:cNvGrpSpPr/>
          <p:nvPr/>
        </p:nvGrpSpPr>
        <p:grpSpPr>
          <a:xfrm>
            <a:off x="602742" y="5769292"/>
            <a:ext cx="7193225" cy="549783"/>
            <a:chOff x="602742" y="5769292"/>
            <a:chExt cx="7193225" cy="549783"/>
          </a:xfrm>
        </p:grpSpPr>
        <p:sp>
          <p:nvSpPr>
            <p:cNvPr id="21" name="TextBox 21"/>
            <p:cNvSpPr txBox="1"/>
            <p:nvPr/>
          </p:nvSpPr>
          <p:spPr>
            <a:xfrm>
              <a:off x="602742" y="5769292"/>
              <a:ext cx="719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同一组件可承担多个职责；已有 systemd-oomd 等策略已覆盖的流程，无需重复实现。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2742" y="6055042"/>
              <a:ext cx="71186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若现成执行器与补充程序共同运行，需要明确管理范围、动作优先级和防重复规则。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603504" y="6480810"/>
              <a:ext cx="3568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服务器资源保护 · 技术调研　｜　按需补充设计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heading"/>
          <p:cNvGrpSpPr/>
          <p:nvPr/>
        </p:nvGrpSpPr>
        <p:grpSpPr>
          <a:xfrm>
            <a:off x="593598" y="342900"/>
            <a:ext cx="10988802" cy="1238060"/>
            <a:chOff x="593598" y="342900"/>
            <a:chExt cx="10988802" cy="1238060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18912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观测 / 按功能选择技术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72009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观测工具：定位前能拿到什么信息？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810500" y="342900"/>
              <a:ext cx="110490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97774" y="424815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观测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144000" y="342900"/>
              <a:ext cx="1104900" cy="400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31274" y="424815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0" y="342900"/>
              <a:ext cx="1104900" cy="400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64774" y="424815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处置</a:t>
              </a:r>
            </a:p>
          </p:txBody>
        </p:sp>
      </p:grpSp>
      <p:sp>
        <p:nvSpPr>
          <p:cNvPr id="11" name="Line 11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12" name="title-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4" name="task"/>
          <p:cNvGrpSpPr/>
          <p:nvPr/>
        </p:nvGrpSpPr>
        <p:grpSpPr>
          <a:xfrm>
            <a:off x="602742" y="1797368"/>
            <a:ext cx="7502652" cy="264033"/>
            <a:chOff x="602742" y="1797368"/>
            <a:chExt cx="7502652" cy="264033"/>
          </a:xfrm>
        </p:grpSpPr>
        <p:sp>
          <p:nvSpPr>
            <p:cNvPr id="13" name="TextBox 13"/>
            <p:cNvSpPr txBox="1"/>
            <p:nvPr/>
          </p:nvSpPr>
          <p:spPr>
            <a:xfrm>
              <a:off x="602742" y="1797368"/>
              <a:ext cx="7502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先以直接读取本机为基线：平台额外提供哪些历史、计算和采集能力，能省下哪些工作？</a:t>
              </a:r>
            </a:p>
          </p:txBody>
        </p:sp>
      </p:grpSp>
      <p:grpSp>
        <p:nvGrpSpPr>
          <p:cNvPr id="59" name="comparison"/>
          <p:cNvGrpSpPr/>
          <p:nvPr/>
        </p:nvGrpSpPr>
        <p:grpSpPr>
          <a:xfrm>
            <a:off x="609600" y="2114550"/>
            <a:ext cx="10972800" cy="3577209"/>
            <a:chOff x="609600" y="2114550"/>
            <a:chExt cx="10972800" cy="3577209"/>
          </a:xfrm>
        </p:grpSpPr>
        <p:sp>
          <p:nvSpPr>
            <p:cNvPr id="15" name="Rectangle 15"/>
            <p:cNvSpPr/>
            <p:nvPr/>
          </p:nvSpPr>
          <p:spPr>
            <a:xfrm>
              <a:off x="609600" y="2114550"/>
              <a:ext cx="10972800" cy="476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2856" y="214884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信息来源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29256" y="2148840"/>
              <a:ext cx="1298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谁占得多？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31542" y="2397442"/>
              <a:ext cx="164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当前用量 → 找对象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15206" y="2148840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谁持续增长？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17492" y="2397442"/>
              <a:ext cx="18379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变化历史 → 缩小范围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86956" y="2148840"/>
              <a:ext cx="18105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资源真的紧张？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889242" y="2397442"/>
              <a:ext cx="1987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等待 / 限流 → 判断压力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63456" y="2148840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业务受影响？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65742" y="2397442"/>
              <a:ext cx="1987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耗时 / 错误 → 判断影响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9600" y="2600325"/>
              <a:ext cx="109728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2856" y="2634615"/>
              <a:ext cx="1298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直接读本机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5142" y="2921318"/>
              <a:ext cx="1782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Linux / Docker · 基线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29256" y="2634615"/>
              <a:ext cx="1618488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直接读当前用量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需自己对齐口径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315206" y="2634615"/>
              <a:ext cx="1618488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需连续采样保存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自己计算增长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86956" y="2634615"/>
              <a:ext cx="1955262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可直接读 PSI / 限流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需解析、对应容器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63456" y="2634615"/>
              <a:ext cx="1618488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需自己检查接口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或读取应用指标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09600" y="32099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2856" y="3244215"/>
              <a:ext cx="7250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Beszel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29256" y="3244215"/>
              <a:ext cx="1161288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有容器用量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可供比较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15206" y="3244215"/>
              <a:ext cx="1847088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有历史记录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增长判断需自己补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86956" y="3244215"/>
              <a:ext cx="1669512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PSI / 限流未确认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需另核对或补采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63456" y="3244215"/>
              <a:ext cx="1618488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基础资源不够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需另接业务数据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09600" y="38195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2856" y="3853815"/>
              <a:ext cx="13545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Prometheus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5142" y="4140518"/>
              <a:ext cx="1165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＋配套采集器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29256" y="3853815"/>
              <a:ext cx="1389888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由容器采集器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提供用量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15206" y="3853815"/>
              <a:ext cx="2075688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写查询表达式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返回增长与排序结果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86956" y="3853815"/>
              <a:ext cx="2006056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主机 PSI、容器限流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需配对应采集器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63456" y="3853815"/>
              <a:ext cx="1618488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需应用提供指标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再配置采集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609600" y="4429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2856" y="4463415"/>
              <a:ext cx="8289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Zabbix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5142" y="4750118"/>
              <a:ext cx="13851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＋Agent 2 / 模板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429256" y="4463415"/>
              <a:ext cx="1389888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模板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提供容器用量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315206" y="4463415"/>
              <a:ext cx="1618488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有历史；可配置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计算项求变化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886956" y="4463415"/>
              <a:ext cx="1777456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模板有 CPU 限流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PSI 另核对或补采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63456" y="4463415"/>
              <a:ext cx="1618488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需接入应用数据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或配置接口检查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609600" y="50387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52856" y="5073015"/>
              <a:ext cx="9123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Netdata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5142" y="5359718"/>
              <a:ext cx="9372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 Agent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429256" y="5073015"/>
              <a:ext cx="932688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本机采集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容器用量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315206" y="5073015"/>
              <a:ext cx="2075688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本机有历史与聚合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按增长筛选需再实现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86956" y="5073015"/>
              <a:ext cx="1955262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列有容器 PSI / 限流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目标环境需验证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363456" y="5073015"/>
              <a:ext cx="1618488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需启用应用集成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或接入应用指标</a:t>
              </a:r>
            </a:p>
          </p:txBody>
        </p:sp>
      </p:grpSp>
      <p:grpSp>
        <p:nvGrpSpPr>
          <p:cNvPr id="63" name="selection"/>
          <p:cNvGrpSpPr/>
          <p:nvPr/>
        </p:nvGrpSpPr>
        <p:grpSpPr>
          <a:xfrm>
            <a:off x="602742" y="5731192"/>
            <a:ext cx="9962535" cy="683133"/>
            <a:chOff x="602742" y="5731192"/>
            <a:chExt cx="9962535" cy="683133"/>
          </a:xfrm>
        </p:grpSpPr>
        <p:sp>
          <p:nvSpPr>
            <p:cNvPr id="60" name="TextBox 60"/>
            <p:cNvSpPr txBox="1"/>
            <p:nvPr/>
          </p:nvSpPr>
          <p:spPr>
            <a:xfrm>
              <a:off x="602742" y="5731192"/>
              <a:ext cx="7652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少量本机信息：直接读取；需要现成历史、更多采集项或查询计算：再复用采集器 / 平台。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02742" y="5940742"/>
              <a:ext cx="996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已有信息够用就先复用；同样满足需求时，比较接入工作量、取数位置与组件开销。Monit 的现成恢复策略见第 8 页。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2742" y="6150292"/>
              <a:ext cx="8666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PSI 表示资源等待；字段、权限、时效和版本均需实测。业务信息仍需接入，允许动作仍由公司提供。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64" name="TextBox 64"/>
            <p:cNvSpPr txBox="1"/>
            <p:nvPr/>
          </p:nvSpPr>
          <p:spPr>
            <a:xfrm>
              <a:off x="603504" y="6480810"/>
              <a:ext cx="3568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服务器资源保护 · 技术调研　｜　按需补充设计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463868"/>
            <a:ext cx="8318430" cy="1117092"/>
            <a:chOff x="593598" y="463868"/>
            <a:chExt cx="8318430" cy="111709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22753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观测选型 / 数据与计算能力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831843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Beszel 与 Prometheus：数据如何支撑判断</a:t>
              </a:r>
            </a:p>
          </p:txBody>
        </p:sp>
      </p:grpSp>
      <p:sp>
        <p:nvSpPr>
          <p:cNvPr id="5" name="Line 5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6" name="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" name="thesis"/>
          <p:cNvGrpSpPr/>
          <p:nvPr/>
        </p:nvGrpSpPr>
        <p:grpSpPr>
          <a:xfrm>
            <a:off x="600456" y="1796415"/>
            <a:ext cx="7699248" cy="352044"/>
            <a:chOff x="600456" y="1796415"/>
            <a:chExt cx="7699248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600456" y="1796415"/>
              <a:ext cx="76992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两者都提供指标和历史，核心差异在于：能否灵活定义查询与计算。</a:t>
              </a:r>
            </a:p>
          </p:txBody>
        </p:sp>
      </p:grpSp>
      <p:grpSp>
        <p:nvGrpSpPr>
          <p:cNvPr id="25" name="comparison"/>
          <p:cNvGrpSpPr/>
          <p:nvPr/>
        </p:nvGrpSpPr>
        <p:grpSpPr>
          <a:xfrm>
            <a:off x="609600" y="2200275"/>
            <a:ext cx="10972800" cy="2381250"/>
            <a:chOff x="609600" y="2200275"/>
            <a:chExt cx="10972800" cy="2381250"/>
          </a:xfrm>
        </p:grpSpPr>
        <p:sp>
          <p:nvSpPr>
            <p:cNvPr id="9" name="Rectangle 9"/>
            <p:cNvSpPr/>
            <p:nvPr/>
          </p:nvSpPr>
          <p:spPr>
            <a:xfrm>
              <a:off x="609600" y="2200275"/>
              <a:ext cx="109728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2856" y="2291715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15006" y="2291715"/>
              <a:ext cx="7250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Beszel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87006" y="2291715"/>
              <a:ext cx="13545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Prometheus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2856" y="2729865"/>
              <a:ext cx="1298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采集与历史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15006" y="2729865"/>
              <a:ext cx="3187004" cy="637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配套 Agent 采集主机 / 容器指标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平台保存历史，API 可读取记录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87006" y="2729865"/>
              <a:ext cx="3218688" cy="637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通常接入采集器或应用指标接口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保存时间序列，API 可查询结果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" y="33432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2856" y="344424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计算能力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15006" y="3444240"/>
              <a:ext cx="3218688" cy="637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提供既定统计、趋势查看与告警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复杂自定义计算通常由程序补充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87006" y="3444240"/>
              <a:ext cx="3390138" cy="637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PromQL 自定义筛选、聚合与排序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记录规则可定期计算并保存结果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09600" y="40576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2856" y="4158615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更适合的需求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15006" y="4158615"/>
              <a:ext cx="33467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基础监控与少量简单判断条件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87006" y="4158615"/>
              <a:ext cx="3858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反复组合指标、复用历史计算结果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09600" y="4572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0" name="example"/>
          <p:cNvGrpSpPr/>
          <p:nvPr/>
        </p:nvGrpSpPr>
        <p:grpSpPr>
          <a:xfrm>
            <a:off x="602742" y="4816792"/>
            <a:ext cx="9674352" cy="970217"/>
            <a:chOff x="602742" y="4816792"/>
            <a:chExt cx="9674352" cy="970217"/>
          </a:xfrm>
        </p:grpSpPr>
        <p:sp>
          <p:nvSpPr>
            <p:cNvPr id="26" name="TextBox 26"/>
            <p:cNvSpPr txBox="1"/>
            <p:nvPr/>
          </p:nvSpPr>
          <p:spPr>
            <a:xfrm>
              <a:off x="602742" y="4816792"/>
              <a:ext cx="7830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同题示例：筛选 10 分钟内存净增长、当前超过 2 GB 的容器，并按增长量排序（假设条件）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2856" y="5139690"/>
              <a:ext cx="1298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谁完成计算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15006" y="5139690"/>
              <a:ext cx="2761488" cy="6473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程序读取历史记录</a:t>
              </a:r>
              <a:br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程序计算增长、筛选并排序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87006" y="5139690"/>
              <a:ext cx="2990088" cy="6473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配置 PromQL 完成计算</a:t>
              </a:r>
              <a:br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程序直接读取筛选与排序结果</a:t>
              </a:r>
            </a:p>
          </p:txBody>
        </p:sp>
      </p:grpSp>
      <p:grpSp>
        <p:nvGrpSpPr>
          <p:cNvPr id="32" name="boundary"/>
          <p:cNvGrpSpPr/>
          <p:nvPr/>
        </p:nvGrpSpPr>
        <p:grpSpPr>
          <a:xfrm>
            <a:off x="602742" y="6026468"/>
            <a:ext cx="8078724" cy="264033"/>
            <a:chOff x="602742" y="6026468"/>
            <a:chExt cx="8078724" cy="264033"/>
          </a:xfrm>
        </p:grpSpPr>
        <p:sp>
          <p:nvSpPr>
            <p:cNvPr id="31" name="TextBox 31"/>
            <p:cNvSpPr txBox="1"/>
            <p:nvPr/>
          </p:nvSpPr>
          <p:spPr>
            <a:xfrm>
              <a:off x="602742" y="6026468"/>
              <a:ext cx="8078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共同边界：业务授权、本机复核和恢复验证仍需实现；接口粒度、采集时效与配置成本需验证。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33" name="TextBox 33"/>
            <p:cNvSpPr txBox="1"/>
            <p:nvPr/>
          </p:nvSpPr>
          <p:spPr>
            <a:xfrm>
              <a:off x="603504" y="6480810"/>
              <a:ext cx="3568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服务器资源保护 · 技术调研　｜　按需补充设计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heading"/>
          <p:cNvGrpSpPr/>
          <p:nvPr/>
        </p:nvGrpSpPr>
        <p:grpSpPr>
          <a:xfrm>
            <a:off x="593598" y="342900"/>
            <a:ext cx="10988802" cy="1238060"/>
            <a:chOff x="593598" y="342900"/>
            <a:chExt cx="10988802" cy="1238060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18912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定位 / 按功能选择技术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49606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定位：交出可处理的候选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810500" y="342900"/>
              <a:ext cx="1104900" cy="400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97774" y="424815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观测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144000" y="342900"/>
              <a:ext cx="110490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31274" y="424815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0" y="342900"/>
              <a:ext cx="1104900" cy="400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64774" y="424815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处置</a:t>
              </a:r>
            </a:p>
          </p:txBody>
        </p:sp>
      </p:grpSp>
      <p:sp>
        <p:nvSpPr>
          <p:cNvPr id="11" name="Line 11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12" name="title-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4" name="input"/>
          <p:cNvGrpSpPr/>
          <p:nvPr/>
        </p:nvGrpSpPr>
        <p:grpSpPr>
          <a:xfrm>
            <a:off x="600456" y="1853565"/>
            <a:ext cx="8361372" cy="352044"/>
            <a:chOff x="600456" y="1853565"/>
            <a:chExt cx="8361372" cy="352044"/>
          </a:xfrm>
        </p:grpSpPr>
        <p:sp>
          <p:nvSpPr>
            <p:cNvPr id="13" name="TextBox 13"/>
            <p:cNvSpPr txBox="1"/>
            <p:nvPr/>
          </p:nvSpPr>
          <p:spPr>
            <a:xfrm>
              <a:off x="600456" y="1853565"/>
              <a:ext cx="83613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假设场景：S1 内存持续紧张；观测以结构化字段提供用量、增长与压力。</a:t>
              </a:r>
            </a:p>
          </p:txBody>
        </p:sp>
      </p:grpSp>
      <p:grpSp>
        <p:nvGrpSpPr>
          <p:cNvPr id="18" name="identity"/>
          <p:cNvGrpSpPr/>
          <p:nvPr/>
        </p:nvGrpSpPr>
        <p:grpSpPr>
          <a:xfrm>
            <a:off x="598932" y="2506980"/>
            <a:ext cx="8161505" cy="668845"/>
            <a:chOff x="598932" y="2506980"/>
            <a:chExt cx="8161505" cy="668845"/>
          </a:xfrm>
        </p:grpSpPr>
        <p:sp>
          <p:nvSpPr>
            <p:cNvPr id="15" name="TextBox 15"/>
            <p:cNvSpPr txBox="1"/>
            <p:nvPr/>
          </p:nvSpPr>
          <p:spPr>
            <a:xfrm>
              <a:off x="598932" y="2506980"/>
              <a:ext cx="12161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确认是谁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48481" y="2520315"/>
              <a:ext cx="49119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 的完整容器身份、所属业务和当前状态。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50767" y="2911792"/>
              <a:ext cx="36621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避免把旧记录对应到重建后的另一个容器。</a:t>
              </a:r>
            </a:p>
          </p:txBody>
        </p:sp>
      </p:grpSp>
      <p:grpSp>
        <p:nvGrpSpPr>
          <p:cNvPr id="22" name="benefit"/>
          <p:cNvGrpSpPr/>
          <p:nvPr/>
        </p:nvGrpSpPr>
        <p:grpSpPr>
          <a:xfrm>
            <a:off x="598932" y="3430905"/>
            <a:ext cx="7649441" cy="668846"/>
            <a:chOff x="598932" y="3430905"/>
            <a:chExt cx="7649441" cy="668846"/>
          </a:xfrm>
        </p:grpSpPr>
        <p:sp>
          <p:nvSpPr>
            <p:cNvPr id="19" name="TextBox 19"/>
            <p:cNvSpPr txBox="1"/>
            <p:nvPr/>
          </p:nvSpPr>
          <p:spPr>
            <a:xfrm>
              <a:off x="598932" y="3430905"/>
              <a:ext cx="24109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判断处理是否有用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48481" y="3444240"/>
              <a:ext cx="43998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 近期净增长，停止后可能释放内存。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50767" y="3835718"/>
              <a:ext cx="42382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这是缓解风险的依据，不代表已经证明事故根因。</a:t>
              </a:r>
            </a:p>
          </p:txBody>
        </p:sp>
      </p:grpSp>
      <p:grpSp>
        <p:nvGrpSpPr>
          <p:cNvPr id="26" name="permission"/>
          <p:cNvGrpSpPr/>
          <p:nvPr/>
        </p:nvGrpSpPr>
        <p:grpSpPr>
          <a:xfrm>
            <a:off x="598932" y="4354830"/>
            <a:ext cx="8463758" cy="668845"/>
            <a:chOff x="598932" y="4354830"/>
            <a:chExt cx="8463758" cy="668845"/>
          </a:xfrm>
        </p:grpSpPr>
        <p:sp>
          <p:nvSpPr>
            <p:cNvPr id="23" name="TextBox 23"/>
            <p:cNvSpPr txBox="1"/>
            <p:nvPr/>
          </p:nvSpPr>
          <p:spPr>
            <a:xfrm>
              <a:off x="598932" y="4354830"/>
              <a:ext cx="18135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核对能否处理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848481" y="4368165"/>
              <a:ext cx="52142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 是可中断的离线任务；A 是受保护数据库。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50767" y="4759642"/>
              <a:ext cx="50063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权限与优先级由公司提供；未知业务不进入自动处理名单。</a:t>
              </a:r>
            </a:p>
          </p:txBody>
        </p:sp>
      </p:grpSp>
      <p:grpSp>
        <p:nvGrpSpPr>
          <p:cNvPr id="32" name="output"/>
          <p:cNvGrpSpPr/>
          <p:nvPr/>
        </p:nvGrpSpPr>
        <p:grpSpPr>
          <a:xfrm>
            <a:off x="609600" y="5314950"/>
            <a:ext cx="10972800" cy="985075"/>
            <a:chOff x="609600" y="5314950"/>
            <a:chExt cx="10972800" cy="985075"/>
          </a:xfrm>
        </p:grpSpPr>
        <p:sp>
          <p:nvSpPr>
            <p:cNvPr id="27" name="Rectangle 27"/>
            <p:cNvSpPr/>
            <p:nvPr/>
          </p:nvSpPr>
          <p:spPr>
            <a:xfrm>
              <a:off x="609600" y="5314950"/>
              <a:ext cx="10972800" cy="971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2856" y="5415915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交出候选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14981" y="5415915"/>
              <a:ext cx="66430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容器 ID=B，建议动作=stop，依据=资源指标＋业务规则。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5142" y="5797868"/>
              <a:ext cx="6350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附上身份、依据、允许动作与处理顺序；没有安全候选就告警，交给人工。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5142" y="6035992"/>
              <a:ext cx="5390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候选不等于执行许可：处置前还要复核风险、身份和最新权限。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33" name="TextBox 33"/>
            <p:cNvSpPr txBox="1"/>
            <p:nvPr/>
          </p:nvSpPr>
          <p:spPr>
            <a:xfrm>
              <a:off x="603504" y="6480810"/>
              <a:ext cx="3568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服务器资源保护 · 技术调研　｜　按需补充设计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heading"/>
          <p:cNvGrpSpPr/>
          <p:nvPr/>
        </p:nvGrpSpPr>
        <p:grpSpPr>
          <a:xfrm>
            <a:off x="593598" y="342900"/>
            <a:ext cx="10988802" cy="1238060"/>
            <a:chOff x="593598" y="342900"/>
            <a:chExt cx="10988802" cy="1238060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22753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定位 / 具体工具与开发边界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76489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定位用什么工具：把观测数据变成候选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810500" y="342900"/>
              <a:ext cx="1104900" cy="400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97774" y="424815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观测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144000" y="342900"/>
              <a:ext cx="110490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31274" y="424815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0" y="342900"/>
              <a:ext cx="1104900" cy="400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64774" y="424815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处置</a:t>
              </a:r>
            </a:p>
          </p:txBody>
        </p:sp>
      </p:grpSp>
      <p:sp>
        <p:nvSpPr>
          <p:cNvPr id="11" name="Line 11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12" name="title-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4" name="intro"/>
          <p:cNvGrpSpPr/>
          <p:nvPr/>
        </p:nvGrpSpPr>
        <p:grpSpPr>
          <a:xfrm>
            <a:off x="602742" y="1797368"/>
            <a:ext cx="7310628" cy="264033"/>
            <a:chOff x="602742" y="1797368"/>
            <a:chExt cx="7310628" cy="264033"/>
          </a:xfrm>
        </p:grpSpPr>
        <p:sp>
          <p:nvSpPr>
            <p:cNvPr id="13" name="TextBox 13"/>
            <p:cNvSpPr txBox="1"/>
            <p:nvPr/>
          </p:nvSpPr>
          <p:spPr>
            <a:xfrm>
              <a:off x="602742" y="1797368"/>
              <a:ext cx="73106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先复用观测的结构化数据，缺证据再补查；以下工具按职责组合，无需每次全部调用。</a:t>
              </a:r>
            </a:p>
          </p:txBody>
        </p:sp>
      </p:grpSp>
      <p:grpSp>
        <p:nvGrpSpPr>
          <p:cNvPr id="42" name="comparison"/>
          <p:cNvGrpSpPr/>
          <p:nvPr/>
        </p:nvGrpSpPr>
        <p:grpSpPr>
          <a:xfrm>
            <a:off x="609600" y="2152650"/>
            <a:ext cx="10972800" cy="3329559"/>
            <a:chOff x="609600" y="2152650"/>
            <a:chExt cx="10972800" cy="3329559"/>
          </a:xfrm>
        </p:grpSpPr>
        <p:sp>
          <p:nvSpPr>
            <p:cNvPr id="15" name="Rectangle 15"/>
            <p:cNvSpPr/>
            <p:nvPr/>
          </p:nvSpPr>
          <p:spPr>
            <a:xfrm>
              <a:off x="609600" y="2152650"/>
              <a:ext cx="109728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2856" y="2253615"/>
              <a:ext cx="1298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要做的工作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15006" y="2253615"/>
              <a:ext cx="175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具体工具 / 接口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06006" y="2253615"/>
              <a:ext cx="2578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能得到什么，还缺什么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2856" y="2672715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读取已有证据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15006" y="2672715"/>
              <a:ext cx="35636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Beszel / Prometheus HTTP API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06006" y="2672715"/>
              <a:ext cx="30906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读取记录、指标或查询结果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08292" y="2968942"/>
              <a:ext cx="36621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复用观测成果；本机观测数据也可直接接入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32099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2856" y="3282315"/>
              <a:ext cx="1298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按数值筛选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15006" y="3282315"/>
              <a:ext cx="27572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PromQL（Prometheus）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06006" y="3282315"/>
              <a:ext cx="36027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按表达式计算增长、筛选与排序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08292" y="3578542"/>
              <a:ext cx="34701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输出指标证据；表达式和业务取舍需定义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9600" y="38195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2856" y="3891915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核对对象身份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15006" y="3891915"/>
              <a:ext cx="29123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Inspect API / 命令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06006" y="3891915"/>
              <a:ext cx="29843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核对容器 ID、状态和标签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08292" y="4188142"/>
              <a:ext cx="34701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关联具体对象；标签本身不等于操作许可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09600" y="4429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856" y="4501515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证据不足补查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15006" y="4501515"/>
              <a:ext cx="26779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pidstat（sysstat）、/proc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06006" y="4501515"/>
              <a:ext cx="4072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补查宿主机进程的 CPU / 内存 / IO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08292" y="4797742"/>
              <a:ext cx="34701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按需使用；安装、权限及进程归属需核验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09600" y="50387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2856" y="5130165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生成业务候选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715006" y="5130165"/>
              <a:ext cx="36027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公司配置＋本机规则（需自研）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06006" y="5130165"/>
              <a:ext cx="41148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过滤保护对象、确定优先级或无候选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600456" y="5749290"/>
            <a:ext cx="7809274" cy="579311"/>
            <a:chOff x="600456" y="5749290"/>
            <a:chExt cx="7809274" cy="579311"/>
          </a:xfrm>
        </p:grpSpPr>
        <p:sp>
          <p:nvSpPr>
            <p:cNvPr id="43" name="TextBox 43"/>
            <p:cNvSpPr txBox="1"/>
            <p:nvPr/>
          </p:nvSpPr>
          <p:spPr>
            <a:xfrm>
              <a:off x="600456" y="5749290"/>
              <a:ext cx="69804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观测：“B 增长多”是证据；定位：“B 符合候选规则”是决策。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2742" y="6064568"/>
              <a:ext cx="78069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交给处置：对象 ID、指标依据、规则编号、建议动作；仍需执行前复核，候选不等于根因。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46" name="TextBox 46"/>
            <p:cNvSpPr txBox="1"/>
            <p:nvPr/>
          </p:nvSpPr>
          <p:spPr>
            <a:xfrm>
              <a:off x="603504" y="6480810"/>
              <a:ext cx="3568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服务器资源保护 · 技术调研　｜　按需补充设计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heading"/>
          <p:cNvGrpSpPr/>
          <p:nvPr/>
        </p:nvGrpSpPr>
        <p:grpSpPr>
          <a:xfrm>
            <a:off x="593598" y="342900"/>
            <a:ext cx="10988802" cy="1238060"/>
            <a:chOff x="593598" y="342900"/>
            <a:chExt cx="10988802" cy="1238060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18912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处置 / 按功能选择技术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585673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处置：缓解风险，并检查恢复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810500" y="342900"/>
              <a:ext cx="1104900" cy="400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97774" y="424815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观测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144000" y="342900"/>
              <a:ext cx="1104900" cy="400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31274" y="424815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0" y="342900"/>
              <a:ext cx="110490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64774" y="424815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处置</a:t>
              </a:r>
            </a:p>
          </p:txBody>
        </p:sp>
      </p:grpSp>
      <p:sp>
        <p:nvSpPr>
          <p:cNvPr id="11" name="Line 11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12" name="title-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4" name="input"/>
          <p:cNvGrpSpPr/>
          <p:nvPr/>
        </p:nvGrpSpPr>
        <p:grpSpPr>
          <a:xfrm>
            <a:off x="600456" y="1853565"/>
            <a:ext cx="7550000" cy="352044"/>
            <a:chOff x="600456" y="1853565"/>
            <a:chExt cx="7550000" cy="352044"/>
          </a:xfrm>
        </p:grpSpPr>
        <p:sp>
          <p:nvSpPr>
            <p:cNvPr id="13" name="TextBox 13"/>
            <p:cNvSpPr txBox="1"/>
            <p:nvPr/>
          </p:nvSpPr>
          <p:spPr>
            <a:xfrm>
              <a:off x="600456" y="1853565"/>
              <a:ext cx="75500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假设场景：输入候选 B 和允许动作；还需确认现在是否应当执行。</a:t>
              </a:r>
            </a:p>
          </p:txBody>
        </p:sp>
      </p:grpSp>
      <p:grpSp>
        <p:nvGrpSpPr>
          <p:cNvPr id="18" name="recheck"/>
          <p:cNvGrpSpPr/>
          <p:nvPr/>
        </p:nvGrpSpPr>
        <p:grpSpPr>
          <a:xfrm>
            <a:off x="598932" y="2478405"/>
            <a:ext cx="9203540" cy="668846"/>
            <a:chOff x="598932" y="2478405"/>
            <a:chExt cx="9203540" cy="668846"/>
          </a:xfrm>
        </p:grpSpPr>
        <p:sp>
          <p:nvSpPr>
            <p:cNvPr id="15" name="TextBox 15"/>
            <p:cNvSpPr txBox="1"/>
            <p:nvPr/>
          </p:nvSpPr>
          <p:spPr>
            <a:xfrm>
              <a:off x="598932" y="2478405"/>
              <a:ext cx="15148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执行前复核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10356" y="2491740"/>
              <a:ext cx="61921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风险仍在、B 身份未变、权限有效，且没有重复动作。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12642" y="2883218"/>
              <a:ext cx="5390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风险消失就取消；目标改变就返回定位；不直接信任过期告警。</a:t>
              </a:r>
            </a:p>
          </p:txBody>
        </p:sp>
      </p:grpSp>
      <p:grpSp>
        <p:nvGrpSpPr>
          <p:cNvPr id="22" name="action"/>
          <p:cNvGrpSpPr/>
          <p:nvPr/>
        </p:nvGrpSpPr>
        <p:grpSpPr>
          <a:xfrm>
            <a:off x="598932" y="3402330"/>
            <a:ext cx="9319332" cy="668845"/>
            <a:chOff x="598932" y="3402330"/>
            <a:chExt cx="9319332" cy="668845"/>
          </a:xfrm>
        </p:grpSpPr>
        <p:sp>
          <p:nvSpPr>
            <p:cNvPr id="19" name="TextBox 19"/>
            <p:cNvSpPr txBox="1"/>
            <p:nvPr/>
          </p:nvSpPr>
          <p:spPr>
            <a:xfrm>
              <a:off x="598932" y="3402330"/>
              <a:ext cx="21122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执行并控制失败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10356" y="3415665"/>
              <a:ext cx="63079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通过 Docker 执行约定动作，设置等待时间和尝试上限。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12642" y="3807142"/>
              <a:ext cx="5710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CPU 可限额，内存可停止授权任务；磁盘清理必须另有允许范围。</a:t>
              </a:r>
            </a:p>
          </p:txBody>
        </p:sp>
      </p:grpSp>
      <p:grpSp>
        <p:nvGrpSpPr>
          <p:cNvPr id="26" name="verify"/>
          <p:cNvGrpSpPr/>
          <p:nvPr/>
        </p:nvGrpSpPr>
        <p:grpSpPr>
          <a:xfrm>
            <a:off x="598932" y="4326255"/>
            <a:ext cx="8406384" cy="668846"/>
            <a:chOff x="598932" y="4326255"/>
            <a:chExt cx="8406384" cy="668846"/>
          </a:xfrm>
        </p:grpSpPr>
        <p:sp>
          <p:nvSpPr>
            <p:cNvPr id="23" name="TextBox 23"/>
            <p:cNvSpPr txBox="1"/>
            <p:nvPr/>
          </p:nvSpPr>
          <p:spPr>
            <a:xfrm>
              <a:off x="598932" y="4326255"/>
              <a:ext cx="21122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检查资源与业务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10356" y="4339590"/>
              <a:ext cx="53949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重新读取内存压力，并检查关键业务是否恢复。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12642" y="4731068"/>
              <a:ext cx="48143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命令成功只说明操作完成；不能据此认定危机已经解除。</a:t>
              </a:r>
            </a:p>
          </p:txBody>
        </p:sp>
      </p:grpSp>
      <p:grpSp>
        <p:nvGrpSpPr>
          <p:cNvPr id="32" name="output"/>
          <p:cNvGrpSpPr/>
          <p:nvPr/>
        </p:nvGrpSpPr>
        <p:grpSpPr>
          <a:xfrm>
            <a:off x="609600" y="5286375"/>
            <a:ext cx="10972800" cy="1004126"/>
            <a:chOff x="609600" y="5286375"/>
            <a:chExt cx="10972800" cy="1004126"/>
          </a:xfrm>
        </p:grpSpPr>
        <p:sp>
          <p:nvSpPr>
            <p:cNvPr id="27" name="Rectangle 27"/>
            <p:cNvSpPr/>
            <p:nvPr/>
          </p:nvSpPr>
          <p:spPr>
            <a:xfrm>
              <a:off x="609600" y="5286375"/>
              <a:ext cx="10972800" cy="100012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2856" y="5396865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交出结果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14981" y="5396865"/>
              <a:ext cx="73847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 ID=B，执行状态=完成，资源检查=通过，业务检查=通过。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5142" y="5769292"/>
              <a:ext cx="7502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未改善或执行失败：记录并升级处理；达到恢复条件后，再按约定恢复任务或解除限制。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5142" y="6026468"/>
              <a:ext cx="66619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保留原因、动作和前后结果；设置冷却，并与 Docker / systemd 自动拉起协调。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33" name="TextBox 33"/>
            <p:cNvSpPr txBox="1"/>
            <p:nvPr/>
          </p:nvSpPr>
          <p:spPr>
            <a:xfrm>
              <a:off x="603504" y="6480810"/>
              <a:ext cx="3568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服务器资源保护 · 技术调研　｜　按需补充设计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heading"/>
          <p:cNvGrpSpPr/>
          <p:nvPr/>
        </p:nvGrpSpPr>
        <p:grpSpPr>
          <a:xfrm>
            <a:off x="593598" y="342900"/>
            <a:ext cx="10988802" cy="1238060"/>
            <a:chOff x="593598" y="342900"/>
            <a:chExt cx="10988802" cy="1238060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22753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处置 / 具体工具与开发边界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76489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处置用什么工具：执行动作并验证恢复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810500" y="342900"/>
              <a:ext cx="1104900" cy="400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97774" y="424815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观测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144000" y="342900"/>
              <a:ext cx="1104900" cy="4000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431274" y="424815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77500" y="342900"/>
              <a:ext cx="110490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64774" y="424815"/>
              <a:ext cx="530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处置</a:t>
              </a:r>
            </a:p>
          </p:txBody>
        </p:sp>
      </p:grpSp>
      <p:sp>
        <p:nvSpPr>
          <p:cNvPr id="11" name="Line 11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12" name="title-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4" name="intro"/>
          <p:cNvGrpSpPr/>
          <p:nvPr/>
        </p:nvGrpSpPr>
        <p:grpSpPr>
          <a:xfrm>
            <a:off x="602742" y="1797368"/>
            <a:ext cx="7502652" cy="264033"/>
            <a:chOff x="602742" y="1797368"/>
            <a:chExt cx="7502652" cy="264033"/>
          </a:xfrm>
        </p:grpSpPr>
        <p:sp>
          <p:nvSpPr>
            <p:cNvPr id="13" name="TextBox 13"/>
            <p:cNvSpPr txBox="1"/>
            <p:nvPr/>
          </p:nvSpPr>
          <p:spPr>
            <a:xfrm>
              <a:off x="602742" y="1797368"/>
              <a:ext cx="7502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输入是已筛选的候选；按职责复用工具，执行前仍需复核，执行后必须检查资源与业务。</a:t>
              </a:r>
            </a:p>
          </p:txBody>
        </p:sp>
      </p:grpSp>
      <p:grpSp>
        <p:nvGrpSpPr>
          <p:cNvPr id="42" name="comparison"/>
          <p:cNvGrpSpPr/>
          <p:nvPr/>
        </p:nvGrpSpPr>
        <p:grpSpPr>
          <a:xfrm>
            <a:off x="609600" y="2152650"/>
            <a:ext cx="10972800" cy="3329559"/>
            <a:chOff x="609600" y="2152650"/>
            <a:chExt cx="10972800" cy="3329559"/>
          </a:xfrm>
        </p:grpSpPr>
        <p:sp>
          <p:nvSpPr>
            <p:cNvPr id="15" name="Rectangle 15"/>
            <p:cNvSpPr/>
            <p:nvPr/>
          </p:nvSpPr>
          <p:spPr>
            <a:xfrm>
              <a:off x="609600" y="2152650"/>
              <a:ext cx="109728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2856" y="2253615"/>
              <a:ext cx="1298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要做的工作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15006" y="2253615"/>
              <a:ext cx="175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具体工具 / 接口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06006" y="2253615"/>
              <a:ext cx="2578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能得到什么，还缺什么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2856" y="2672715"/>
              <a:ext cx="1298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执行前复核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15006" y="2672715"/>
              <a:ext cx="36778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Inspect＋本机 Linux 指标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06006" y="2672715"/>
              <a:ext cx="30906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核对身份、状态与当前压力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08292" y="2968942"/>
              <a:ext cx="30861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同时复核业务授权；条件变化则退出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09600" y="32099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2856" y="3282315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执行具体动作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15006" y="3282315"/>
              <a:ext cx="30105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update / stop / restart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06006" y="3282315"/>
              <a:ext cx="36027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调整资源限制、停止或重启容器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08292" y="3578542"/>
              <a:ext cx="3888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调用对应 API；stop 超时可能升级为强制终止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609600" y="38195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2856" y="3891915"/>
              <a:ext cx="18105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控制并发与等待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715006" y="3891915"/>
              <a:ext cx="2659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flock＋API 客户端超时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06006" y="3891915"/>
              <a:ext cx="36027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协作式本机互斥、限制请求等待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08292" y="4188142"/>
              <a:ext cx="36621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需共用锁；请求超时不代表服务端动作取消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609600" y="44291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856" y="4501515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编排多步操作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15006" y="4501515"/>
              <a:ext cx="29223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Ansible Playbook（可选）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06006" y="4501515"/>
              <a:ext cx="3858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组织条件、等待、重试和失败分支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08292" y="4797742"/>
              <a:ext cx="3854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已有流程时复用；任务与跨运行互斥仍需定义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09600" y="50387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2856" y="5130165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验证是否恢复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715006" y="5130165"/>
              <a:ext cx="43492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HEALTHCHECK / 业务接口＋指标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06006" y="5130165"/>
              <a:ext cx="33467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检查关键业务健康和资源压力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600456" y="5749290"/>
            <a:ext cx="8467344" cy="579311"/>
            <a:chOff x="600456" y="5749290"/>
            <a:chExt cx="8467344" cy="579311"/>
          </a:xfrm>
        </p:grpSpPr>
        <p:sp>
          <p:nvSpPr>
            <p:cNvPr id="43" name="TextBox 43"/>
            <p:cNvSpPr txBox="1"/>
            <p:nvPr/>
          </p:nvSpPr>
          <p:spPr>
            <a:xfrm>
              <a:off x="600456" y="5749290"/>
              <a:ext cx="8467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仍需实现：授权复核、动作参数、冷却与次数上限、恢复标准和失败升级。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2742" y="6064568"/>
              <a:ext cx="7502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命令成功只说明动作完成；资源压力缓解且关键业务符合恢复标准，才算本次处置有效。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46" name="TextBox 46"/>
            <p:cNvSpPr txBox="1"/>
            <p:nvPr/>
          </p:nvSpPr>
          <p:spPr>
            <a:xfrm>
              <a:off x="603504" y="6480810"/>
              <a:ext cx="3568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服务器资源保护 · 技术调研　｜　按需补充设计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463868"/>
            <a:ext cx="7648956" cy="1117092"/>
            <a:chOff x="593598" y="463868"/>
            <a:chExt cx="7648956" cy="111709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2293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候选组合 / Prometheus 路线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76489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两条补充路线：省下什么，增加什么？</a:t>
              </a:r>
            </a:p>
          </p:txBody>
        </p:sp>
      </p:grpSp>
      <p:sp>
        <p:nvSpPr>
          <p:cNvPr id="5" name="Line 5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6" name="title-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" name="intro"/>
          <p:cNvGrpSpPr/>
          <p:nvPr/>
        </p:nvGrpSpPr>
        <p:grpSpPr>
          <a:xfrm>
            <a:off x="602742" y="1844992"/>
            <a:ext cx="5966460" cy="264033"/>
            <a:chOff x="602742" y="1844992"/>
            <a:chExt cx="596646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602742" y="1844992"/>
              <a:ext cx="59664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比较相同目标：识别风险、选出允许处理的对象，并执行后检查恢复。</a:t>
              </a:r>
            </a:p>
          </p:txBody>
        </p:sp>
      </p:grpSp>
      <p:grpSp>
        <p:nvGrpSpPr>
          <p:cNvPr id="28" name="comparison"/>
          <p:cNvGrpSpPr/>
          <p:nvPr/>
        </p:nvGrpSpPr>
        <p:grpSpPr>
          <a:xfrm>
            <a:off x="609600" y="2124075"/>
            <a:ext cx="10972800" cy="3310509"/>
            <a:chOff x="609600" y="2124075"/>
            <a:chExt cx="10972800" cy="3310509"/>
          </a:xfrm>
        </p:grpSpPr>
        <p:sp>
          <p:nvSpPr>
            <p:cNvPr id="9" name="Rectangle 9"/>
            <p:cNvSpPr/>
            <p:nvPr/>
          </p:nvSpPr>
          <p:spPr>
            <a:xfrm>
              <a:off x="609600" y="2124075"/>
              <a:ext cx="10972800" cy="4476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2856" y="222504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15006" y="2225040"/>
              <a:ext cx="20329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Beszel + 本机程序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287006" y="2225040"/>
              <a:ext cx="26584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Prometheus + 本机程序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2856" y="2691765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复用什么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715006" y="2691765"/>
              <a:ext cx="367588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基础用量、历史、集中查看与告警；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可通过 API 读取已保存记录。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87006" y="2691765"/>
              <a:ext cx="299008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采集器、历史、表达式查询；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计算结果复用与告警规则。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609600" y="33242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2856" y="3387090"/>
              <a:ext cx="1298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判断放哪里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715006" y="3387090"/>
              <a:ext cx="344728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本机程序做紧急检测与候选判断；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需要时读取 Beszel 历史。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87006" y="3387090"/>
              <a:ext cx="321868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增长筛选与组合条件可放平台；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业务授权与执行前复核留本机。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09600" y="4019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2856" y="4082415"/>
              <a:ext cx="1298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需要补什么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15006" y="4082415"/>
              <a:ext cx="2939293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本机采样 / 历史处理按需补；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平台缺少的指标另接。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87006" y="4082415"/>
              <a:ext cx="321868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采集器、标签与表达式需配置；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业务指标与采集时效需核验。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09600" y="4714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2856" y="4777740"/>
              <a:ext cx="1298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更适合何时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15006" y="4777740"/>
              <a:ext cx="342794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公司已有 Beszel，基础信息够用，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希望先验证少量本机保护条件。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87006" y="4777740"/>
              <a:ext cx="321868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需要反复组合资源与业务指标，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或公司已有 Prometheus 体系。</a:t>
              </a:r>
            </a:p>
          </p:txBody>
        </p:sp>
      </p:grpSp>
      <p:grpSp>
        <p:nvGrpSpPr>
          <p:cNvPr id="32" name="shared"/>
          <p:cNvGrpSpPr/>
          <p:nvPr/>
        </p:nvGrpSpPr>
        <p:grpSpPr>
          <a:xfrm>
            <a:off x="600456" y="5634990"/>
            <a:ext cx="9235440" cy="788861"/>
            <a:chOff x="600456" y="5634990"/>
            <a:chExt cx="9235440" cy="788861"/>
          </a:xfrm>
        </p:grpSpPr>
        <p:sp>
          <p:nvSpPr>
            <p:cNvPr id="29" name="TextBox 29"/>
            <p:cNvSpPr txBox="1"/>
            <p:nvPr/>
          </p:nvSpPr>
          <p:spPr>
            <a:xfrm>
              <a:off x="600456" y="5634990"/>
              <a:ext cx="92354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两条路线都需：公司业务配置、动作控制、恢复检查、操作记录和目标环境测试。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2742" y="5940742"/>
              <a:ext cx="7502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平台计算可减少部分处理代码，但不能预先断言总开发量更少、响应更快或一定更可靠。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2742" y="6159818"/>
              <a:ext cx="7502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先在同机同负载下比较数据齐全程度、时效、组件开销和开发缺口，再决定采用或组合。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33" name="TextBox 33"/>
            <p:cNvSpPr txBox="1"/>
            <p:nvPr/>
          </p:nvSpPr>
          <p:spPr>
            <a:xfrm>
              <a:off x="603504" y="6480810"/>
              <a:ext cx="3568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服务器资源保护 · 技术调研　｜　按需补充设计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463868"/>
            <a:ext cx="5797857" cy="1117092"/>
            <a:chOff x="593598" y="463868"/>
            <a:chExt cx="5797857" cy="111709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3672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补充路线 / 假设已有 Beszel 且基础信息够用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579785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Beszel + 按需补充的本机程序</a:t>
              </a:r>
            </a:p>
          </p:txBody>
        </p:sp>
      </p:grpSp>
      <p:sp>
        <p:nvSpPr>
          <p:cNvPr id="5" name="Line 5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6" name="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0" name="platform"/>
          <p:cNvGrpSpPr/>
          <p:nvPr/>
        </p:nvGrpSpPr>
        <p:grpSpPr>
          <a:xfrm>
            <a:off x="598932" y="2021205"/>
            <a:ext cx="7796295" cy="1040320"/>
            <a:chOff x="598932" y="2021205"/>
            <a:chExt cx="7796295" cy="1040320"/>
          </a:xfrm>
        </p:grpSpPr>
        <p:sp>
          <p:nvSpPr>
            <p:cNvPr id="7" name="TextBox 7"/>
            <p:cNvSpPr txBox="1"/>
            <p:nvPr/>
          </p:nvSpPr>
          <p:spPr>
            <a:xfrm>
              <a:off x="598932" y="2021205"/>
              <a:ext cx="41316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Beszel：复用指标、历史和告警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2463165"/>
              <a:ext cx="7794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提供主机与容器指标；平台保存记录，程序可通过 API 取数。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2742" y="2797492"/>
              <a:ext cx="42382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接口字段、历史粒度和数据年龄需核对实际版本。</a:t>
              </a:r>
            </a:p>
          </p:txBody>
        </p:sp>
      </p:grpSp>
      <p:grpSp>
        <p:nvGrpSpPr>
          <p:cNvPr id="15" name="local"/>
          <p:cNvGrpSpPr/>
          <p:nvPr/>
        </p:nvGrpSpPr>
        <p:grpSpPr>
          <a:xfrm>
            <a:off x="609600" y="3276600"/>
            <a:ext cx="10972800" cy="1285875"/>
            <a:chOff x="609600" y="3276600"/>
            <a:chExt cx="10972800" cy="1285875"/>
          </a:xfrm>
        </p:grpSpPr>
        <p:sp>
          <p:nvSpPr>
            <p:cNvPr id="11" name="Rectangle 11"/>
            <p:cNvSpPr/>
            <p:nvPr/>
          </p:nvSpPr>
          <p:spPr>
            <a:xfrm>
              <a:off x="609600" y="3276600"/>
              <a:ext cx="10972800" cy="12858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1332" y="3421380"/>
              <a:ext cx="6294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本机程序：仅实现现成策略未覆盖的判断与动作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2856" y="3872865"/>
              <a:ext cx="79552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按需计算历史变化，结合业务规则选候选；执行前读取本机最新状态。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142" y="4254818"/>
              <a:ext cx="57744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缺失指标另行采集；恢复检查、冷却和动作记录按已确认需求补充。</a:t>
              </a:r>
            </a:p>
          </p:txBody>
        </p:sp>
      </p:grpSp>
      <p:grpSp>
        <p:nvGrpSpPr>
          <p:cNvPr id="18" name="strategy"/>
          <p:cNvGrpSpPr/>
          <p:nvPr/>
        </p:nvGrpSpPr>
        <p:grpSpPr>
          <a:xfrm>
            <a:off x="598932" y="4907280"/>
            <a:ext cx="7444740" cy="746379"/>
            <a:chOff x="598932" y="4907280"/>
            <a:chExt cx="7444740" cy="746379"/>
          </a:xfrm>
        </p:grpSpPr>
        <p:sp>
          <p:nvSpPr>
            <p:cNvPr id="16" name="TextBox 16"/>
            <p:cNvSpPr txBox="1"/>
            <p:nvPr/>
          </p:nvSpPr>
          <p:spPr>
            <a:xfrm>
              <a:off x="598932" y="4907280"/>
              <a:ext cx="50993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现成策略：继续承担已覆盖的保护职责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0456" y="5301615"/>
              <a:ext cx="74432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资源限额、日志轮转及内存应急机制，与补充程序明确管理范围。</a:t>
              </a:r>
            </a:p>
          </p:txBody>
        </p:sp>
      </p:grpSp>
      <p:grpSp>
        <p:nvGrpSpPr>
          <p:cNvPr id="20" name="boundary"/>
          <p:cNvGrpSpPr/>
          <p:nvPr/>
        </p:nvGrpSpPr>
        <p:grpSpPr>
          <a:xfrm>
            <a:off x="602742" y="5950268"/>
            <a:ext cx="7679885" cy="264033"/>
            <a:chOff x="602742" y="5950268"/>
            <a:chExt cx="7679885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602742" y="5950268"/>
              <a:ext cx="767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“公司已有 Beszel”尚待确认；这是待验证的组合设计，不承诺额外程序的开销或响应时效。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21" name="TextBox 21"/>
            <p:cNvSpPr txBox="1"/>
            <p:nvPr/>
          </p:nvSpPr>
          <p:spPr>
            <a:xfrm>
              <a:off x="603504" y="6480810"/>
              <a:ext cx="3568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服务器资源保护 · 技术调研　｜　按需补充设计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463868"/>
            <a:ext cx="6892646" cy="1117092"/>
            <a:chOff x="593598" y="463868"/>
            <a:chExt cx="6892646" cy="111709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2293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候选组合 / Prometheus 路线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68926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Prometheus + 按需补充的本机程序</a:t>
              </a:r>
            </a:p>
          </p:txBody>
        </p:sp>
      </p:grpSp>
      <p:sp>
        <p:nvSpPr>
          <p:cNvPr id="5" name="Line 5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6" name="title-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" name="intro"/>
          <p:cNvGrpSpPr/>
          <p:nvPr/>
        </p:nvGrpSpPr>
        <p:grpSpPr>
          <a:xfrm>
            <a:off x="600456" y="1834515"/>
            <a:ext cx="8723376" cy="352044"/>
            <a:chOff x="600456" y="1834515"/>
            <a:chExt cx="8723376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600456" y="1834515"/>
              <a:ext cx="87233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平台负责持续采集、历史与计算；本机程序负责授权复核、执行和恢复检查。</a:t>
              </a:r>
            </a:p>
          </p:txBody>
        </p:sp>
      </p:grpSp>
      <p:grpSp>
        <p:nvGrpSpPr>
          <p:cNvPr id="12" name="collect"/>
          <p:cNvGrpSpPr/>
          <p:nvPr/>
        </p:nvGrpSpPr>
        <p:grpSpPr>
          <a:xfrm>
            <a:off x="751332" y="2383155"/>
            <a:ext cx="7070779" cy="954596"/>
            <a:chOff x="751332" y="2383155"/>
            <a:chExt cx="7070779" cy="954596"/>
          </a:xfrm>
        </p:grpSpPr>
        <p:sp>
          <p:nvSpPr>
            <p:cNvPr id="9" name="TextBox 9"/>
            <p:cNvSpPr txBox="1"/>
            <p:nvPr/>
          </p:nvSpPr>
          <p:spPr>
            <a:xfrm>
              <a:off x="751332" y="2383155"/>
              <a:ext cx="27096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每台机器：提供数据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2856" y="2748915"/>
              <a:ext cx="706925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node_exporter：主机资源与压力；cAdvisor：容器用量与限流。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142" y="3073718"/>
              <a:ext cx="5198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请求耗时、错误率等业务指标，需要应用或对应采集器提供。</a:t>
              </a:r>
            </a:p>
          </p:txBody>
        </p:sp>
      </p:grpSp>
      <p:grpSp>
        <p:nvGrpSpPr>
          <p:cNvPr id="16" name="platform"/>
          <p:cNvGrpSpPr/>
          <p:nvPr/>
        </p:nvGrpSpPr>
        <p:grpSpPr>
          <a:xfrm>
            <a:off x="751332" y="3449955"/>
            <a:ext cx="7042404" cy="954596"/>
            <a:chOff x="751332" y="3449955"/>
            <a:chExt cx="7042404" cy="954596"/>
          </a:xfrm>
        </p:grpSpPr>
        <p:sp>
          <p:nvSpPr>
            <p:cNvPr id="13" name="TextBox 13"/>
            <p:cNvSpPr txBox="1"/>
            <p:nvPr/>
          </p:nvSpPr>
          <p:spPr>
            <a:xfrm>
              <a:off x="751332" y="3449955"/>
              <a:ext cx="33725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Prometheus：存储与计算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2856" y="3815715"/>
              <a:ext cx="70408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定期拉取指标、保存历史；用 PromQL 筛选增长和组合条件。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142" y="4140518"/>
              <a:ext cx="549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可定期保存计算结果、判断告警；本机程序通过 API 查询结果。</a:t>
              </a:r>
            </a:p>
          </p:txBody>
        </p:sp>
      </p:grpSp>
      <p:grpSp>
        <p:nvGrpSpPr>
          <p:cNvPr id="20" name="local"/>
          <p:cNvGrpSpPr/>
          <p:nvPr/>
        </p:nvGrpSpPr>
        <p:grpSpPr>
          <a:xfrm>
            <a:off x="751332" y="4516755"/>
            <a:ext cx="6932676" cy="954596"/>
            <a:chOff x="751332" y="4516755"/>
            <a:chExt cx="6932676" cy="954596"/>
          </a:xfrm>
        </p:grpSpPr>
        <p:sp>
          <p:nvSpPr>
            <p:cNvPr id="17" name="TextBox 17"/>
            <p:cNvSpPr txBox="1"/>
            <p:nvPr/>
          </p:nvSpPr>
          <p:spPr>
            <a:xfrm>
              <a:off x="751332" y="4516755"/>
              <a:ext cx="45018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本机程序：补充未覆盖的保护逻辑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2856" y="4882515"/>
              <a:ext cx="6931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读取公司权限，复核当前风险与身份，再执行、检查、记录。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5142" y="5207318"/>
              <a:ext cx="6158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保留本机紧急检测；平台不可用或数据过期时，不依据旧结果盲目执行。</a:t>
              </a:r>
            </a:p>
          </p:txBody>
        </p:sp>
      </p:grpSp>
      <p:grpSp>
        <p:nvGrpSpPr>
          <p:cNvPr id="24" name="optional"/>
          <p:cNvGrpSpPr/>
          <p:nvPr/>
        </p:nvGrpSpPr>
        <p:grpSpPr>
          <a:xfrm>
            <a:off x="602742" y="5693092"/>
            <a:ext cx="7901704" cy="730759"/>
            <a:chOff x="602742" y="5693092"/>
            <a:chExt cx="7901704" cy="730759"/>
          </a:xfrm>
        </p:grpSpPr>
        <p:sp>
          <p:nvSpPr>
            <p:cNvPr id="21" name="TextBox 21"/>
            <p:cNvSpPr txBox="1"/>
            <p:nvPr/>
          </p:nvSpPr>
          <p:spPr>
            <a:xfrm>
              <a:off x="602742" y="5693092"/>
              <a:ext cx="66241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可选：Grafana 查询、展示与告警；Alertmanager 管理告警分组、去重和通知。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2742" y="5931218"/>
              <a:ext cx="6307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需要配置：采集目标、标签对应、查询 / 告警规则、保存时间和访问权限。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2742" y="6159818"/>
              <a:ext cx="79017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这里示例集中部署 Prometheus，也可另选部署位置；单机独立运行不保证远端数据始终新鲜。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603504" y="6480810"/>
              <a:ext cx="3568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服务器资源保护 · 技术调研　｜　按需补充设计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463868"/>
            <a:ext cx="7200900" cy="1117092"/>
            <a:chOff x="593598" y="463868"/>
            <a:chExt cx="7200900" cy="111709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22935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候选组合 / Prometheus 路线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72009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同一次内存危机：谁完成哪些判断？</a:t>
              </a:r>
            </a:p>
          </p:txBody>
        </p:sp>
      </p:grpSp>
      <p:sp>
        <p:nvSpPr>
          <p:cNvPr id="5" name="Line 5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6" name="title-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8" name="scenario"/>
          <p:cNvGrpSpPr/>
          <p:nvPr/>
        </p:nvGrpSpPr>
        <p:grpSpPr>
          <a:xfrm>
            <a:off x="600456" y="1834515"/>
            <a:ext cx="8436653" cy="352044"/>
            <a:chOff x="600456" y="1834515"/>
            <a:chExt cx="8436653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600456" y="1834515"/>
              <a:ext cx="84366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仍用假设案例：S1 内存紧张；B 是可中断离线任务，A 是受保护数据库。</a:t>
              </a:r>
            </a:p>
          </p:txBody>
        </p:sp>
      </p:grpSp>
      <p:grpSp>
        <p:nvGrpSpPr>
          <p:cNvPr id="12" name="step01"/>
          <p:cNvGrpSpPr/>
          <p:nvPr/>
        </p:nvGrpSpPr>
        <p:grpSpPr>
          <a:xfrm>
            <a:off x="600456" y="2367915"/>
            <a:ext cx="7158228" cy="588836"/>
            <a:chOff x="600456" y="2367915"/>
            <a:chExt cx="7158228" cy="588836"/>
          </a:xfrm>
        </p:grpSpPr>
        <p:sp>
          <p:nvSpPr>
            <p:cNvPr id="9" name="TextBox 9"/>
            <p:cNvSpPr txBox="1"/>
            <p:nvPr/>
          </p:nvSpPr>
          <p:spPr>
            <a:xfrm>
              <a:off x="600456" y="2367915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持续记录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34106" y="2367915"/>
              <a:ext cx="15708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采集器 + 平台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36392" y="2692718"/>
              <a:ext cx="4622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保存可用内存、容器用量、压力；应用指标按需接入。</a:t>
              </a:r>
            </a:p>
          </p:txBody>
        </p:sp>
      </p:grpSp>
      <p:grpSp>
        <p:nvGrpSpPr>
          <p:cNvPr id="16" name="step02"/>
          <p:cNvGrpSpPr/>
          <p:nvPr/>
        </p:nvGrpSpPr>
        <p:grpSpPr>
          <a:xfrm>
            <a:off x="600456" y="3015615"/>
            <a:ext cx="8966532" cy="588836"/>
            <a:chOff x="600456" y="3015615"/>
            <a:chExt cx="8966532" cy="588836"/>
          </a:xfrm>
        </p:grpSpPr>
        <p:sp>
          <p:nvSpPr>
            <p:cNvPr id="13" name="TextBox 13"/>
            <p:cNvSpPr txBox="1"/>
            <p:nvPr/>
          </p:nvSpPr>
          <p:spPr>
            <a:xfrm>
              <a:off x="600456" y="3015615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筛出线索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34106" y="3015615"/>
              <a:ext cx="12530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Prometheus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6392" y="3340418"/>
              <a:ext cx="64305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按配置计算近期增长，返回 B 等对象的数值线索；尚未完成业务候选判断。</a:t>
              </a:r>
            </a:p>
          </p:txBody>
        </p:sp>
      </p:grpSp>
      <p:grpSp>
        <p:nvGrpSpPr>
          <p:cNvPr id="20" name="step03"/>
          <p:cNvGrpSpPr/>
          <p:nvPr/>
        </p:nvGrpSpPr>
        <p:grpSpPr>
          <a:xfrm>
            <a:off x="600456" y="3663315"/>
            <a:ext cx="7635235" cy="588836"/>
            <a:chOff x="600456" y="3663315"/>
            <a:chExt cx="7635235" cy="588836"/>
          </a:xfrm>
        </p:grpSpPr>
        <p:sp>
          <p:nvSpPr>
            <p:cNvPr id="17" name="TextBox 17"/>
            <p:cNvSpPr txBox="1"/>
            <p:nvPr/>
          </p:nvSpPr>
          <p:spPr>
            <a:xfrm>
              <a:off x="600456" y="3663315"/>
              <a:ext cx="16184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确认能处理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34106" y="3663315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本机程序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36392" y="3988118"/>
              <a:ext cx="50992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核对数据年龄、完整身份与公司权限；排除 A 和未知业务。</a:t>
              </a:r>
            </a:p>
          </p:txBody>
        </p:sp>
      </p:grpSp>
      <p:grpSp>
        <p:nvGrpSpPr>
          <p:cNvPr id="24" name="step04"/>
          <p:cNvGrpSpPr/>
          <p:nvPr/>
        </p:nvGrpSpPr>
        <p:grpSpPr>
          <a:xfrm>
            <a:off x="600456" y="4311015"/>
            <a:ext cx="7180023" cy="588836"/>
            <a:chOff x="600456" y="4311015"/>
            <a:chExt cx="7180023" cy="588836"/>
          </a:xfrm>
        </p:grpSpPr>
        <p:sp>
          <p:nvSpPr>
            <p:cNvPr id="21" name="TextBox 21"/>
            <p:cNvSpPr txBox="1"/>
            <p:nvPr/>
          </p:nvSpPr>
          <p:spPr>
            <a:xfrm>
              <a:off x="600456" y="4311015"/>
              <a:ext cx="16184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 复核后执行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34106" y="4311015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本机程序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36392" y="4635818"/>
              <a:ext cx="46440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风险仍在才按授权停止 B；设超时、互斥与次数上限。</a:t>
              </a:r>
            </a:p>
          </p:txBody>
        </p:sp>
      </p:grpSp>
      <p:grpSp>
        <p:nvGrpSpPr>
          <p:cNvPr id="28" name="step05"/>
          <p:cNvGrpSpPr/>
          <p:nvPr/>
        </p:nvGrpSpPr>
        <p:grpSpPr>
          <a:xfrm>
            <a:off x="600456" y="4958715"/>
            <a:ext cx="7350252" cy="588836"/>
            <a:chOff x="600456" y="4958715"/>
            <a:chExt cx="7350252" cy="588836"/>
          </a:xfrm>
        </p:grpSpPr>
        <p:sp>
          <p:nvSpPr>
            <p:cNvPr id="25" name="TextBox 25"/>
            <p:cNvSpPr txBox="1"/>
            <p:nvPr/>
          </p:nvSpPr>
          <p:spPr>
            <a:xfrm>
              <a:off x="600456" y="4958715"/>
              <a:ext cx="16184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 检查并留痕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34106" y="4958715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本机程序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36392" y="5283518"/>
              <a:ext cx="48143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本机复查压力与业务；平台趋势辅助复盘，失败则升级。</a:t>
              </a:r>
            </a:p>
          </p:txBody>
        </p:sp>
      </p:grpSp>
      <p:grpSp>
        <p:nvGrpSpPr>
          <p:cNvPr id="31" name="boundary"/>
          <p:cNvGrpSpPr/>
          <p:nvPr/>
        </p:nvGrpSpPr>
        <p:grpSpPr>
          <a:xfrm>
            <a:off x="600456" y="5730240"/>
            <a:ext cx="7187184" cy="588835"/>
            <a:chOff x="600456" y="5730240"/>
            <a:chExt cx="7187184" cy="588835"/>
          </a:xfrm>
        </p:grpSpPr>
        <p:sp>
          <p:nvSpPr>
            <p:cNvPr id="29" name="TextBox 29"/>
            <p:cNvSpPr txBox="1"/>
            <p:nvPr/>
          </p:nvSpPr>
          <p:spPr>
            <a:xfrm>
              <a:off x="600456" y="5730240"/>
              <a:ext cx="7187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先验证查询取数；告警联动按需加入，收到通知仍需本机复核。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2742" y="6055042"/>
              <a:ext cx="71186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增长排名不是根因或停止许可；阈值、窗口、采样间隔和失联处理需在试点中确定。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603504" y="6480810"/>
              <a:ext cx="3568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服务器资源保护 · 技术调研　｜　按需补充设计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463868"/>
            <a:ext cx="6752844" cy="1117092"/>
            <a:chOff x="593598" y="463868"/>
            <a:chExt cx="6752844" cy="111709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34274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讨论与下一步 / 现成方案和补充方案共用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67528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下一步：先试点，再确定开发范围</a:t>
              </a:r>
            </a:p>
          </p:txBody>
        </p:sp>
      </p:grpSp>
      <p:sp>
        <p:nvSpPr>
          <p:cNvPr id="5" name="Line 5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6" name="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0" name="facts"/>
          <p:cNvGrpSpPr/>
          <p:nvPr/>
        </p:nvGrpSpPr>
        <p:grpSpPr>
          <a:xfrm>
            <a:off x="598932" y="2049780"/>
            <a:ext cx="10418506" cy="725995"/>
            <a:chOff x="598932" y="2049780"/>
            <a:chExt cx="10418506" cy="725995"/>
          </a:xfrm>
        </p:grpSpPr>
        <p:sp>
          <p:nvSpPr>
            <p:cNvPr id="7" name="TextBox 7"/>
            <p:cNvSpPr txBox="1"/>
            <p:nvPr/>
          </p:nvSpPr>
          <p:spPr>
            <a:xfrm>
              <a:off x="598932" y="2049780"/>
              <a:ext cx="15148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先补齐事实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686556" y="2082165"/>
              <a:ext cx="59070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故障记录、每台机器配置、业务优先级与允许动作。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88842" y="2511742"/>
              <a:ext cx="73285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已知参考环境：Ubuntu 22.04、systemd 249、cgroup v2、Docker 29；不代表所有机器。</a:t>
              </a:r>
            </a:p>
          </p:txBody>
        </p:sp>
      </p:grpSp>
      <p:grpSp>
        <p:nvGrpSpPr>
          <p:cNvPr id="14" name="pilot"/>
          <p:cNvGrpSpPr/>
          <p:nvPr/>
        </p:nvGrpSpPr>
        <p:grpSpPr>
          <a:xfrm>
            <a:off x="598932" y="3259455"/>
            <a:ext cx="9440418" cy="725996"/>
            <a:chOff x="598932" y="3259455"/>
            <a:chExt cx="9440418" cy="725996"/>
          </a:xfrm>
        </p:grpSpPr>
        <p:sp>
          <p:nvSpPr>
            <p:cNvPr id="11" name="TextBox 11"/>
            <p:cNvSpPr txBox="1"/>
            <p:nvPr/>
          </p:nvSpPr>
          <p:spPr>
            <a:xfrm>
              <a:off x="598932" y="3259455"/>
              <a:ext cx="18135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选择一个试点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86556" y="3291840"/>
              <a:ext cx="59070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按真实故障选择策略，在可控环境验证触发与动作。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88842" y="3721418"/>
              <a:ext cx="6350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内存问题优先评估组级保护；日志增长先验证轮转；资源争抢先验证限额。</a:t>
              </a:r>
            </a:p>
          </p:txBody>
        </p:sp>
      </p:grpSp>
      <p:grpSp>
        <p:nvGrpSpPr>
          <p:cNvPr id="18" name="acceptance"/>
          <p:cNvGrpSpPr/>
          <p:nvPr/>
        </p:nvGrpSpPr>
        <p:grpSpPr>
          <a:xfrm>
            <a:off x="598932" y="4469130"/>
            <a:ext cx="9762744" cy="725995"/>
            <a:chOff x="598932" y="4469130"/>
            <a:chExt cx="9762744" cy="725995"/>
          </a:xfrm>
        </p:grpSpPr>
        <p:sp>
          <p:nvSpPr>
            <p:cNvPr id="15" name="TextBox 15"/>
            <p:cNvSpPr txBox="1"/>
            <p:nvPr/>
          </p:nvSpPr>
          <p:spPr>
            <a:xfrm>
              <a:off x="598932" y="4469130"/>
              <a:ext cx="21122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按同一标准验收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86556" y="4501515"/>
              <a:ext cx="66751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对象选对、动作获准、资源改善、关键业务符合恢复标准。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88842" y="4931092"/>
              <a:ext cx="6350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同时检查误触发、自动拉起、重复动作、失联与数据过期；保留前后记录。</a:t>
              </a:r>
            </a:p>
          </p:txBody>
        </p:sp>
      </p:grpSp>
      <p:grpSp>
        <p:nvGrpSpPr>
          <p:cNvPr id="20" name="ask"/>
          <p:cNvGrpSpPr/>
          <p:nvPr/>
        </p:nvGrpSpPr>
        <p:grpSpPr>
          <a:xfrm>
            <a:off x="598932" y="5745480"/>
            <a:ext cx="8086344" cy="410718"/>
            <a:chOff x="598932" y="5745480"/>
            <a:chExt cx="8086344" cy="410718"/>
          </a:xfrm>
        </p:grpSpPr>
        <p:sp>
          <p:nvSpPr>
            <p:cNvPr id="19" name="TextBox 19"/>
            <p:cNvSpPr txBox="1"/>
            <p:nvPr/>
          </p:nvSpPr>
          <p:spPr>
            <a:xfrm>
              <a:off x="598932" y="5745480"/>
              <a:ext cx="80863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本次希望确定：优先故障类型、试点机器、业务规则提供人。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21" name="TextBox 21"/>
            <p:cNvSpPr txBox="1"/>
            <p:nvPr/>
          </p:nvSpPr>
          <p:spPr>
            <a:xfrm>
              <a:off x="603504" y="6480810"/>
              <a:ext cx="37388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服务器资源保护 · 技术调研　｜　尚未部署或压测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463868"/>
            <a:ext cx="4064508" cy="1117092"/>
            <a:chOff x="593598" y="463868"/>
            <a:chExt cx="4064508" cy="1117092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463868"/>
              <a:ext cx="22753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附录 / 官方资料与验证范围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64883"/>
              <a:ext cx="406450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资料来源与结论边界</a:t>
              </a:r>
            </a:p>
          </p:txBody>
        </p:sp>
      </p:grpSp>
      <p:sp>
        <p:nvSpPr>
          <p:cNvPr id="5" name="Line 5"/>
          <p:cNvSpPr/>
          <p:nvPr/>
        </p:nvSpPr>
        <p:spPr>
          <a:xfrm>
            <a:off x="609600" y="15525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chemeClr val="accent6"/>
            </a:solidFill>
          </a:ln>
        </p:spPr>
      </p:sp>
      <p:sp>
        <p:nvSpPr>
          <p:cNvPr id="6" name="accent"/>
          <p:cNvSpPr/>
          <p:nvPr/>
        </p:nvSpPr>
        <p:spPr>
          <a:xfrm>
            <a:off x="609600" y="1533525"/>
            <a:ext cx="6096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8" name="sources"/>
          <p:cNvGrpSpPr/>
          <p:nvPr/>
        </p:nvGrpSpPr>
        <p:grpSpPr>
          <a:xfrm>
            <a:off x="600456" y="2101215"/>
            <a:ext cx="9078848" cy="2980944"/>
            <a:chOff x="600456" y="2101215"/>
            <a:chExt cx="9078848" cy="2980944"/>
          </a:xfrm>
        </p:grpSpPr>
        <p:sp>
          <p:nvSpPr>
            <p:cNvPr id="7" name="TextBox 7"/>
            <p:cNvSpPr txBox="1"/>
            <p:nvPr/>
          </p:nvSpPr>
          <p:spPr>
            <a:xfrm>
              <a:off x="600456" y="2101215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现成保护策略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657981" y="2101215"/>
              <a:ext cx="44766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Ubuntu Jammy 手册、Linux cgroup 文档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60267" y="2483168"/>
              <a:ext cx="51489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systemd-oomd / oomd.conf / resource-control / journald / logrotate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2977515"/>
              <a:ext cx="2322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资源与工作负载管理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57981" y="2977515"/>
              <a:ext cx="51540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Docker、Monit、Kubernetes、Slurm 官方文档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60267" y="3359468"/>
              <a:ext cx="55824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资源限制、日志驱动、条件恢复、节点压力驱逐、作业约束与抢占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0456" y="3853815"/>
              <a:ext cx="1298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监控与取数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57981" y="3853815"/>
              <a:ext cx="5389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Beszel、Prometheus、Zabbix、Netdata 官方文档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60267" y="4235768"/>
              <a:ext cx="58766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API、采集器、历史查询、计算与告警；Grafana 为可选查询展示工具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0456" y="4730115"/>
              <a:ext cx="18105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补充执行与检查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57981" y="4730115"/>
              <a:ext cx="60213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API、pidstat、flock、Ansible 与健康检查文档</a:t>
              </a:r>
            </a:p>
          </p:txBody>
        </p:sp>
      </p:grpSp>
      <p:grpSp>
        <p:nvGrpSpPr>
          <p:cNvPr id="22" name="boundary"/>
          <p:cNvGrpSpPr/>
          <p:nvPr/>
        </p:nvGrpSpPr>
        <p:grpSpPr>
          <a:xfrm>
            <a:off x="609600" y="5457825"/>
            <a:ext cx="10972800" cy="857250"/>
            <a:chOff x="609600" y="5457825"/>
            <a:chExt cx="10972800" cy="857250"/>
          </a:xfrm>
        </p:grpSpPr>
        <p:sp>
          <p:nvSpPr>
            <p:cNvPr id="19" name="Rectangle 19"/>
            <p:cNvSpPr/>
            <p:nvPr/>
          </p:nvSpPr>
          <p:spPr>
            <a:xfrm>
              <a:off x="609600" y="5457825"/>
              <a:ext cx="109728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2856" y="5577840"/>
              <a:ext cx="66751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文档证明能力存在，试点才能验证它是否满足我们的业务。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5142" y="5997892"/>
              <a:ext cx="7694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逐页备注附链接；无性能或故障实测结论。示例对象、阈值与公司已有平台均按标注理解。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603504" y="6480810"/>
            <a:ext cx="10984992" cy="234696"/>
            <a:chOff x="603504" y="6480810"/>
            <a:chExt cx="10984992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603504" y="6480810"/>
              <a:ext cx="4407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服务器资源保护 · 技术调研　｜　资料核验截至 2026-09-17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05616" y="6480810"/>
              <a:ext cx="1828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erver-resource-research_strategy-first">
  <a:themeElements>
    <a:clrScheme name="server-resource-research_strategy-first">
      <a:dk1>
        <a:srgbClr val="181818"/>
      </a:dk1>
      <a:lt1>
        <a:srgbClr val="FFFFFF"/>
      </a:lt1>
      <a:dk2>
        <a:srgbClr val="1F497D"/>
      </a:dk2>
      <a:lt2>
        <a:srgbClr val="F5F5F5"/>
      </a:lt2>
      <a:accent1>
        <a:srgbClr val="181818"/>
      </a:accent1>
      <a:accent2>
        <a:srgbClr val="BC4733"/>
      </a:accent2>
      <a:accent3>
        <a:srgbClr val="BC4733"/>
      </a:accent3>
      <a:accent4>
        <a:srgbClr val="181818"/>
      </a:accent4>
      <a:accent5>
        <a:srgbClr val="666666"/>
      </a:accent5>
      <a:accent6>
        <a:srgbClr val="DADADA"/>
      </a:accent6>
      <a:hlink>
        <a:srgbClr val="BC4733"/>
      </a:hlink>
      <a:folHlink>
        <a:srgbClr val="BC4733"/>
      </a:folHlink>
    </a:clrScheme>
    <a:fontScheme name="server-resource-research_strategy-first">
      <a:maj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rver-resource-research_strategy-firs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erver-resource-research_strategy-first">
  <a:themeElements>
    <a:clrScheme name="server-resource-research_strategy-first">
      <a:dk1>
        <a:srgbClr val="181818"/>
      </a:dk1>
      <a:lt1>
        <a:srgbClr val="FFFFFF"/>
      </a:lt1>
      <a:dk2>
        <a:srgbClr val="1F497D"/>
      </a:dk2>
      <a:lt2>
        <a:srgbClr val="F5F5F5"/>
      </a:lt2>
      <a:accent1>
        <a:srgbClr val="181818"/>
      </a:accent1>
      <a:accent2>
        <a:srgbClr val="BC4733"/>
      </a:accent2>
      <a:accent3>
        <a:srgbClr val="BC4733"/>
      </a:accent3>
      <a:accent4>
        <a:srgbClr val="181818"/>
      </a:accent4>
      <a:accent5>
        <a:srgbClr val="666666"/>
      </a:accent5>
      <a:accent6>
        <a:srgbClr val="DADADA"/>
      </a:accent6>
      <a:hlink>
        <a:srgbClr val="BC4733"/>
      </a:hlink>
      <a:folHlink>
        <a:srgbClr val="BC4733"/>
      </a:folHlink>
    </a:clrScheme>
    <a:fontScheme name="server-resource-research_strategy-first">
      <a:maj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rver-resource-research_strategy-firs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2026-09-17T04:13:55Z</dcterms:created>
  <dcterms:modified xsi:type="dcterms:W3CDTF">2026-09-17T04:13:55Z</dcterms:modified>
  <cp:category/>
  <cp:contentStatus/>
</cp:coreProperties>
</file>